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2"/>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ileron Bold" charset="1" panose="00000800000000000000"/>
      <p:regular r:id="rId16"/>
    </p:embeddedFont>
    <p:embeddedFont>
      <p:font typeface="Montserrat" charset="1" panose="00000500000000000000"/>
      <p:regular r:id="rId17"/>
    </p:embeddedFont>
    <p:embeddedFont>
      <p:font typeface="Aileron" charset="1" panose="00000500000000000000"/>
      <p:regular r:id="rId18"/>
    </p:embeddedFont>
    <p:embeddedFont>
      <p:font typeface="Montserrat Bold" charset="1" panose="00000800000000000000"/>
      <p:regular r:id="rId19"/>
    </p:embeddedFont>
    <p:embeddedFont>
      <p:font typeface="Canva Sans Bold" charset="1" panose="020B0803030501040103"/>
      <p:regular r:id="rId20"/>
    </p:embeddedFont>
    <p:embeddedFont>
      <p:font typeface="Canva Sans" charset="1" panose="020B0503030501040103"/>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Masters/notesMaster1.xml" Type="http://schemas.openxmlformats.org/officeDocument/2006/relationships/notesMaster"/><Relationship Id="rId23" Target="theme/theme2.xml" Type="http://schemas.openxmlformats.org/officeDocument/2006/relationships/theme"/><Relationship Id="rId24" Target="notesSlides/notesSlide1.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https://gazette.gc.ca/rp-pr/p2/2025/2025-10-08/html/sor-dors196-eng.html </a:t>
            </a:r>
          </a:p>
          <a:p>
            <a:r>
              <a:rPr lang="en-US"/>
              <a:t/>
            </a:r>
          </a:p>
          <a:p>
            <a:r>
              <a:rPr lang="en-US"/>
              <a:t>A.2.1.10 Neutron detectors</a:t>
            </a:r>
          </a:p>
          <a:p>
            <a:r>
              <a:rPr lang="en-US"/>
              <a:t>Especially designed or prepared neutron detectors for determining neutron flux levels within the core of a nuclear reactor within the meaning of paragraph A.2.1.1.</a:t>
            </a:r>
          </a:p>
          <a:p>
            <a:r>
              <a:rPr lang="en-US"/>
              <a:t/>
            </a:r>
          </a:p>
          <a:p>
            <a:r>
              <a:rPr lang="en-US"/>
              <a:t>A.2.2.5 Neutron measurement systems for process control</a:t>
            </a:r>
          </a:p>
          <a:p>
            <a:r>
              <a:rPr lang="en-US"/>
              <a:t>Neutron measurement systems especially designed or prepared for integration and use with automated process control systems in reprocessing plants referred to in paragraph A.2.2.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slide1.xml><?xml version="1.0" encoding="utf-8"?>
<p:sld xmlns:p="http://schemas.openxmlformats.org/presentationml/2006/main" xmlns:a="http://schemas.openxmlformats.org/drawingml/2006/main">
  <p:cSld>
    <p:bg>
      <p:bgPr>
        <a:solidFill>
          <a:srgbClr val="14615B"/>
        </a:solidFill>
      </p:bgPr>
    </p:bg>
    <p:spTree>
      <p:nvGrpSpPr>
        <p:cNvPr id="1" name=""/>
        <p:cNvGrpSpPr/>
        <p:nvPr/>
      </p:nvGrpSpPr>
      <p:grpSpPr>
        <a:xfrm>
          <a:off x="0" y="0"/>
          <a:ext cx="0" cy="0"/>
          <a:chOff x="0" y="0"/>
          <a:chExt cx="0" cy="0"/>
        </a:xfrm>
      </p:grpSpPr>
      <p:grpSp>
        <p:nvGrpSpPr>
          <p:cNvPr name="Group 2" id="2"/>
          <p:cNvGrpSpPr/>
          <p:nvPr/>
        </p:nvGrpSpPr>
        <p:grpSpPr>
          <a:xfrm rot="0">
            <a:off x="1028700" y="6447389"/>
            <a:ext cx="2381787" cy="1190893"/>
            <a:chOff x="0" y="0"/>
            <a:chExt cx="660400" cy="330200"/>
          </a:xfrm>
        </p:grpSpPr>
        <p:sp>
          <p:nvSpPr>
            <p:cNvPr name="Freeform 3" id="3"/>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FFFFFF"/>
            </a:solidFill>
          </p:spPr>
        </p:sp>
        <p:sp>
          <p:nvSpPr>
            <p:cNvPr name="TextBox 4" id="4"/>
            <p:cNvSpPr txBox="true"/>
            <p:nvPr/>
          </p:nvSpPr>
          <p:spPr>
            <a:xfrm>
              <a:off x="127000" y="6350"/>
              <a:ext cx="406400" cy="1841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2641186" y="4490757"/>
            <a:ext cx="8962611" cy="4481305"/>
            <a:chOff x="0" y="0"/>
            <a:chExt cx="660400" cy="330200"/>
          </a:xfrm>
        </p:grpSpPr>
        <p:sp>
          <p:nvSpPr>
            <p:cNvPr name="Freeform 6" id="6"/>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000000">
                <a:alpha val="9804"/>
              </a:srgbClr>
            </a:solidFill>
          </p:spPr>
        </p:sp>
        <p:sp>
          <p:nvSpPr>
            <p:cNvPr name="TextBox 7" id="7"/>
            <p:cNvSpPr txBox="true"/>
            <p:nvPr/>
          </p:nvSpPr>
          <p:spPr>
            <a:xfrm>
              <a:off x="127000" y="6350"/>
              <a:ext cx="406400" cy="18415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10800000">
            <a:off x="1028700" y="5256496"/>
            <a:ext cx="2381787" cy="1190893"/>
            <a:chOff x="0" y="0"/>
            <a:chExt cx="660400" cy="330200"/>
          </a:xfrm>
        </p:grpSpPr>
        <p:sp>
          <p:nvSpPr>
            <p:cNvPr name="Freeform 9" id="9"/>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2E8785"/>
            </a:solidFill>
          </p:spPr>
        </p:sp>
        <p:sp>
          <p:nvSpPr>
            <p:cNvPr name="TextBox 10" id="10"/>
            <p:cNvSpPr txBox="true"/>
            <p:nvPr/>
          </p:nvSpPr>
          <p:spPr>
            <a:xfrm>
              <a:off x="127000" y="6350"/>
              <a:ext cx="406400" cy="18415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10800000">
            <a:off x="13159642" y="-971574"/>
            <a:ext cx="8962611" cy="4481305"/>
            <a:chOff x="0" y="0"/>
            <a:chExt cx="660400" cy="330200"/>
          </a:xfrm>
        </p:grpSpPr>
        <p:sp>
          <p:nvSpPr>
            <p:cNvPr name="Freeform 12" id="12"/>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000000">
                <a:alpha val="9804"/>
              </a:srgbClr>
            </a:solidFill>
          </p:spPr>
        </p:sp>
        <p:sp>
          <p:nvSpPr>
            <p:cNvPr name="TextBox 13" id="13"/>
            <p:cNvSpPr txBox="true"/>
            <p:nvPr/>
          </p:nvSpPr>
          <p:spPr>
            <a:xfrm>
              <a:off x="127000" y="6350"/>
              <a:ext cx="406400" cy="18415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3708478" y="4490757"/>
            <a:ext cx="1710326" cy="3147525"/>
            <a:chOff x="0" y="0"/>
            <a:chExt cx="571500" cy="1051736"/>
          </a:xfrm>
        </p:grpSpPr>
        <p:sp>
          <p:nvSpPr>
            <p:cNvPr name="Freeform 15" id="15"/>
            <p:cNvSpPr/>
            <p:nvPr/>
          </p:nvSpPr>
          <p:spPr>
            <a:xfrm flipH="false" flipV="false" rot="0">
              <a:off x="0" y="0"/>
              <a:ext cx="571500" cy="1051736"/>
            </a:xfrm>
            <a:custGeom>
              <a:avLst/>
              <a:gdLst/>
              <a:ahLst/>
              <a:cxnLst/>
              <a:rect r="r" b="b" t="t" l="l"/>
              <a:pathLst>
                <a:path h="1051736" w="571500">
                  <a:moveTo>
                    <a:pt x="571500" y="1051736"/>
                  </a:moveTo>
                  <a:lnTo>
                    <a:pt x="0" y="1051736"/>
                  </a:lnTo>
                  <a:lnTo>
                    <a:pt x="0" y="0"/>
                  </a:lnTo>
                  <a:lnTo>
                    <a:pt x="571500" y="1051736"/>
                  </a:lnTo>
                  <a:close/>
                </a:path>
              </a:pathLst>
            </a:custGeom>
            <a:solidFill>
              <a:srgbClr val="F5D77D"/>
            </a:solidFill>
          </p:spPr>
        </p:sp>
        <p:sp>
          <p:nvSpPr>
            <p:cNvPr name="TextBox 16" id="16"/>
            <p:cNvSpPr txBox="true"/>
            <p:nvPr/>
          </p:nvSpPr>
          <p:spPr>
            <a:xfrm>
              <a:off x="0" y="487768"/>
              <a:ext cx="285750" cy="56173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028700" y="2531270"/>
            <a:ext cx="2381787" cy="2381787"/>
            <a:chOff x="0" y="0"/>
            <a:chExt cx="558800" cy="558800"/>
          </a:xfrm>
        </p:grpSpPr>
        <p:sp>
          <p:nvSpPr>
            <p:cNvPr name="Freeform 18" id="18"/>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FFFFFF"/>
            </a:solidFill>
          </p:spPr>
        </p:sp>
        <p:sp>
          <p:nvSpPr>
            <p:cNvPr name="TextBox 19" id="19"/>
            <p:cNvSpPr txBox="true"/>
            <p:nvPr/>
          </p:nvSpPr>
          <p:spPr>
            <a:xfrm>
              <a:off x="165100" y="127000"/>
              <a:ext cx="393700" cy="431800"/>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6165012" y="2991064"/>
            <a:ext cx="11680007" cy="5390723"/>
          </a:xfrm>
          <a:prstGeom prst="rect">
            <a:avLst/>
          </a:prstGeom>
        </p:spPr>
        <p:txBody>
          <a:bodyPr anchor="t" rtlCol="false" tIns="0" lIns="0" bIns="0" rIns="0">
            <a:spAutoFit/>
          </a:bodyPr>
          <a:lstStyle/>
          <a:p>
            <a:pPr algn="just">
              <a:lnSpc>
                <a:spcPts val="11233"/>
              </a:lnSpc>
            </a:pPr>
            <a:r>
              <a:rPr lang="en-US" sz="11122" b="true">
                <a:solidFill>
                  <a:srgbClr val="FFFFFF"/>
                </a:solidFill>
                <a:latin typeface="Aileron Bold"/>
                <a:ea typeface="Aileron Bold"/>
                <a:cs typeface="Aileron Bold"/>
                <a:sym typeface="Aileron Bold"/>
              </a:rPr>
              <a:t>Controls &amp;</a:t>
            </a:r>
          </a:p>
          <a:p>
            <a:pPr algn="just">
              <a:lnSpc>
                <a:spcPts val="11132"/>
              </a:lnSpc>
            </a:pPr>
            <a:r>
              <a:rPr lang="en-US" sz="11022" b="true">
                <a:solidFill>
                  <a:srgbClr val="FFFFFF"/>
                </a:solidFill>
                <a:latin typeface="Aileron Bold"/>
                <a:ea typeface="Aileron Bold"/>
                <a:cs typeface="Aileron Bold"/>
                <a:sym typeface="Aileron Bold"/>
              </a:rPr>
              <a:t>Instrumentation:</a:t>
            </a:r>
          </a:p>
          <a:p>
            <a:pPr algn="just">
              <a:lnSpc>
                <a:spcPts val="5881"/>
              </a:lnSpc>
            </a:pPr>
          </a:p>
          <a:p>
            <a:pPr algn="just">
              <a:lnSpc>
                <a:spcPts val="7069"/>
              </a:lnSpc>
            </a:pPr>
            <a:r>
              <a:rPr lang="en-US" sz="6999" b="true">
                <a:solidFill>
                  <a:srgbClr val="FFFFFF"/>
                </a:solidFill>
                <a:latin typeface="Aileron Bold"/>
                <a:ea typeface="Aileron Bold"/>
                <a:cs typeface="Aileron Bold"/>
                <a:sym typeface="Aileron Bold"/>
              </a:rPr>
              <a:t>Control Rod Simulator (Dye Control Regulator)</a:t>
            </a:r>
          </a:p>
        </p:txBody>
      </p:sp>
      <p:sp>
        <p:nvSpPr>
          <p:cNvPr name="TextBox 21" id="21"/>
          <p:cNvSpPr txBox="true"/>
          <p:nvPr/>
        </p:nvSpPr>
        <p:spPr>
          <a:xfrm rot="0">
            <a:off x="805988" y="8414241"/>
            <a:ext cx="8718996" cy="844059"/>
          </a:xfrm>
          <a:prstGeom prst="rect">
            <a:avLst/>
          </a:prstGeom>
        </p:spPr>
        <p:txBody>
          <a:bodyPr anchor="t" rtlCol="false" tIns="0" lIns="0" bIns="0" rIns="0">
            <a:spAutoFit/>
          </a:bodyPr>
          <a:lstStyle/>
          <a:p>
            <a:pPr algn="l">
              <a:lnSpc>
                <a:spcPts val="7699"/>
              </a:lnSpc>
            </a:pPr>
            <a:r>
              <a:rPr lang="en-US" sz="3079">
                <a:solidFill>
                  <a:srgbClr val="FFFFFF"/>
                </a:solidFill>
                <a:latin typeface="Montserrat"/>
                <a:ea typeface="Montserrat"/>
                <a:cs typeface="Montserrat"/>
                <a:sym typeface="Montserrat"/>
              </a:rPr>
              <a:t>Group 9: Siddharth, Zhiyu, Cecilia, Issa, Kira</a:t>
            </a:r>
          </a:p>
        </p:txBody>
      </p:sp>
      <p:sp>
        <p:nvSpPr>
          <p:cNvPr name="TextBox 22" id="22"/>
          <p:cNvSpPr txBox="true"/>
          <p:nvPr/>
        </p:nvSpPr>
        <p:spPr>
          <a:xfrm rot="0">
            <a:off x="805988" y="806913"/>
            <a:ext cx="9966896" cy="567398"/>
          </a:xfrm>
          <a:prstGeom prst="rect">
            <a:avLst/>
          </a:prstGeom>
        </p:spPr>
        <p:txBody>
          <a:bodyPr anchor="t" rtlCol="false" tIns="0" lIns="0" bIns="0" rIns="0">
            <a:spAutoFit/>
          </a:bodyPr>
          <a:lstStyle/>
          <a:p>
            <a:pPr algn="l">
              <a:lnSpc>
                <a:spcPts val="4134"/>
              </a:lnSpc>
            </a:pPr>
            <a:r>
              <a:rPr lang="en-US" sz="4543" b="true">
                <a:solidFill>
                  <a:srgbClr val="F5D77D"/>
                </a:solidFill>
                <a:latin typeface="Aileron Bold"/>
                <a:ea typeface="Aileron Bold"/>
                <a:cs typeface="Aileron Bold"/>
                <a:sym typeface="Aileron Bold"/>
              </a:rPr>
              <a:t>Nuclear Innovation Challenge</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5631958" y="3806040"/>
            <a:ext cx="6713059" cy="2328127"/>
            <a:chOff x="0" y="0"/>
            <a:chExt cx="1601642" cy="555458"/>
          </a:xfrm>
        </p:grpSpPr>
        <p:sp>
          <p:nvSpPr>
            <p:cNvPr name="Freeform 3" id="3"/>
            <p:cNvSpPr/>
            <p:nvPr/>
          </p:nvSpPr>
          <p:spPr>
            <a:xfrm flipH="false" flipV="false" rot="0">
              <a:off x="0" y="0"/>
              <a:ext cx="1601642" cy="555458"/>
            </a:xfrm>
            <a:custGeom>
              <a:avLst/>
              <a:gdLst/>
              <a:ahLst/>
              <a:cxnLst/>
              <a:rect r="r" b="b" t="t" l="l"/>
              <a:pathLst>
                <a:path h="555458" w="1601642">
                  <a:moveTo>
                    <a:pt x="33445" y="0"/>
                  </a:moveTo>
                  <a:lnTo>
                    <a:pt x="1568197" y="0"/>
                  </a:lnTo>
                  <a:cubicBezTo>
                    <a:pt x="1586668" y="0"/>
                    <a:pt x="1601642" y="14974"/>
                    <a:pt x="1601642" y="33445"/>
                  </a:cubicBezTo>
                  <a:lnTo>
                    <a:pt x="1601642" y="522014"/>
                  </a:lnTo>
                  <a:cubicBezTo>
                    <a:pt x="1601642" y="530884"/>
                    <a:pt x="1598118" y="539391"/>
                    <a:pt x="1591846" y="545663"/>
                  </a:cubicBezTo>
                  <a:cubicBezTo>
                    <a:pt x="1585574" y="551935"/>
                    <a:pt x="1577067" y="555458"/>
                    <a:pt x="1568197" y="555458"/>
                  </a:cubicBezTo>
                  <a:lnTo>
                    <a:pt x="33445" y="555458"/>
                  </a:lnTo>
                  <a:cubicBezTo>
                    <a:pt x="14974" y="555458"/>
                    <a:pt x="0" y="540485"/>
                    <a:pt x="0" y="522014"/>
                  </a:cubicBezTo>
                  <a:lnTo>
                    <a:pt x="0" y="33445"/>
                  </a:lnTo>
                  <a:cubicBezTo>
                    <a:pt x="0" y="14974"/>
                    <a:pt x="14974" y="0"/>
                    <a:pt x="33445" y="0"/>
                  </a:cubicBezTo>
                  <a:close/>
                </a:path>
              </a:pathLst>
            </a:custGeom>
            <a:solidFill>
              <a:srgbClr val="14615B"/>
            </a:solidFill>
          </p:spPr>
        </p:sp>
        <p:sp>
          <p:nvSpPr>
            <p:cNvPr name="TextBox 4" id="4"/>
            <p:cNvSpPr txBox="true"/>
            <p:nvPr/>
          </p:nvSpPr>
          <p:spPr>
            <a:xfrm>
              <a:off x="0" y="-38100"/>
              <a:ext cx="1601642" cy="593558"/>
            </a:xfrm>
            <a:prstGeom prst="rect">
              <a:avLst/>
            </a:prstGeom>
          </p:spPr>
          <p:txBody>
            <a:bodyPr anchor="ctr" rtlCol="false" tIns="50800" lIns="50800" bIns="50800" rIns="50800"/>
            <a:lstStyle/>
            <a:p>
              <a:pPr algn="ctr">
                <a:lnSpc>
                  <a:spcPts val="3080"/>
                </a:lnSpc>
              </a:pPr>
            </a:p>
          </p:txBody>
        </p:sp>
      </p:grpSp>
      <p:grpSp>
        <p:nvGrpSpPr>
          <p:cNvPr name="Group 5" id="5"/>
          <p:cNvGrpSpPr/>
          <p:nvPr/>
        </p:nvGrpSpPr>
        <p:grpSpPr>
          <a:xfrm rot="0">
            <a:off x="-211015" y="-240524"/>
            <a:ext cx="5442923" cy="10768047"/>
            <a:chOff x="0" y="0"/>
            <a:chExt cx="1433527" cy="2836029"/>
          </a:xfrm>
        </p:grpSpPr>
        <p:sp>
          <p:nvSpPr>
            <p:cNvPr name="Freeform 6" id="6"/>
            <p:cNvSpPr/>
            <p:nvPr/>
          </p:nvSpPr>
          <p:spPr>
            <a:xfrm flipH="false" flipV="false" rot="0">
              <a:off x="0" y="0"/>
              <a:ext cx="1433527" cy="2836029"/>
            </a:xfrm>
            <a:custGeom>
              <a:avLst/>
              <a:gdLst/>
              <a:ahLst/>
              <a:cxnLst/>
              <a:rect r="r" b="b" t="t" l="l"/>
              <a:pathLst>
                <a:path h="2836029" w="1433527">
                  <a:moveTo>
                    <a:pt x="41249" y="0"/>
                  </a:moveTo>
                  <a:lnTo>
                    <a:pt x="1392278" y="0"/>
                  </a:lnTo>
                  <a:cubicBezTo>
                    <a:pt x="1403218" y="0"/>
                    <a:pt x="1413710" y="4346"/>
                    <a:pt x="1421446" y="12082"/>
                  </a:cubicBezTo>
                  <a:cubicBezTo>
                    <a:pt x="1429181" y="19817"/>
                    <a:pt x="1433527" y="30309"/>
                    <a:pt x="1433527" y="41249"/>
                  </a:cubicBezTo>
                  <a:lnTo>
                    <a:pt x="1433527" y="2794780"/>
                  </a:lnTo>
                  <a:cubicBezTo>
                    <a:pt x="1433527" y="2817561"/>
                    <a:pt x="1415059" y="2836029"/>
                    <a:pt x="1392278" y="2836029"/>
                  </a:cubicBezTo>
                  <a:lnTo>
                    <a:pt x="41249" y="2836029"/>
                  </a:lnTo>
                  <a:cubicBezTo>
                    <a:pt x="18468" y="2836029"/>
                    <a:pt x="0" y="2817561"/>
                    <a:pt x="0" y="2794780"/>
                  </a:cubicBezTo>
                  <a:lnTo>
                    <a:pt x="0" y="41249"/>
                  </a:lnTo>
                  <a:cubicBezTo>
                    <a:pt x="0" y="18468"/>
                    <a:pt x="18468" y="0"/>
                    <a:pt x="41249" y="0"/>
                  </a:cubicBezTo>
                  <a:close/>
                </a:path>
              </a:pathLst>
            </a:custGeom>
            <a:solidFill>
              <a:srgbClr val="14615B"/>
            </a:solidFill>
          </p:spPr>
        </p:sp>
        <p:sp>
          <p:nvSpPr>
            <p:cNvPr name="TextBox 7" id="7"/>
            <p:cNvSpPr txBox="true"/>
            <p:nvPr/>
          </p:nvSpPr>
          <p:spPr>
            <a:xfrm>
              <a:off x="0" y="-38100"/>
              <a:ext cx="1433527" cy="2874129"/>
            </a:xfrm>
            <a:prstGeom prst="rect">
              <a:avLst/>
            </a:prstGeom>
          </p:spPr>
          <p:txBody>
            <a:bodyPr anchor="ctr" rtlCol="false" tIns="50800" lIns="50800" bIns="50800" rIns="50800"/>
            <a:lstStyle/>
            <a:p>
              <a:pPr algn="ctr">
                <a:lnSpc>
                  <a:spcPts val="3080"/>
                </a:lnSpc>
              </a:pPr>
            </a:p>
          </p:txBody>
        </p:sp>
      </p:grpSp>
      <p:grpSp>
        <p:nvGrpSpPr>
          <p:cNvPr name="Group 8" id="8"/>
          <p:cNvGrpSpPr/>
          <p:nvPr/>
        </p:nvGrpSpPr>
        <p:grpSpPr>
          <a:xfrm rot="0">
            <a:off x="10117733" y="6570289"/>
            <a:ext cx="7464525" cy="3334996"/>
            <a:chOff x="0" y="0"/>
            <a:chExt cx="1780931" cy="795683"/>
          </a:xfrm>
        </p:grpSpPr>
        <p:sp>
          <p:nvSpPr>
            <p:cNvPr name="Freeform 9" id="9"/>
            <p:cNvSpPr/>
            <p:nvPr/>
          </p:nvSpPr>
          <p:spPr>
            <a:xfrm flipH="false" flipV="false" rot="0">
              <a:off x="0" y="0"/>
              <a:ext cx="1780931" cy="795683"/>
            </a:xfrm>
            <a:custGeom>
              <a:avLst/>
              <a:gdLst/>
              <a:ahLst/>
              <a:cxnLst/>
              <a:rect r="r" b="b" t="t" l="l"/>
              <a:pathLst>
                <a:path h="795683" w="1780931">
                  <a:moveTo>
                    <a:pt x="30078" y="0"/>
                  </a:moveTo>
                  <a:lnTo>
                    <a:pt x="1750854" y="0"/>
                  </a:lnTo>
                  <a:cubicBezTo>
                    <a:pt x="1767465" y="0"/>
                    <a:pt x="1780931" y="13466"/>
                    <a:pt x="1780931" y="30078"/>
                  </a:cubicBezTo>
                  <a:lnTo>
                    <a:pt x="1780931" y="765606"/>
                  </a:lnTo>
                  <a:cubicBezTo>
                    <a:pt x="1780931" y="773583"/>
                    <a:pt x="1777762" y="781233"/>
                    <a:pt x="1772122" y="786874"/>
                  </a:cubicBezTo>
                  <a:cubicBezTo>
                    <a:pt x="1766481" y="792514"/>
                    <a:pt x="1758831" y="795683"/>
                    <a:pt x="1750854" y="795683"/>
                  </a:cubicBezTo>
                  <a:lnTo>
                    <a:pt x="30078" y="795683"/>
                  </a:lnTo>
                  <a:cubicBezTo>
                    <a:pt x="22101" y="795683"/>
                    <a:pt x="14450" y="792514"/>
                    <a:pt x="8810" y="786874"/>
                  </a:cubicBezTo>
                  <a:cubicBezTo>
                    <a:pt x="3169" y="781233"/>
                    <a:pt x="0" y="773583"/>
                    <a:pt x="0" y="765606"/>
                  </a:cubicBezTo>
                  <a:lnTo>
                    <a:pt x="0" y="30078"/>
                  </a:lnTo>
                  <a:cubicBezTo>
                    <a:pt x="0" y="22101"/>
                    <a:pt x="3169" y="14450"/>
                    <a:pt x="8810" y="8810"/>
                  </a:cubicBezTo>
                  <a:cubicBezTo>
                    <a:pt x="14450" y="3169"/>
                    <a:pt x="22101" y="0"/>
                    <a:pt x="30078" y="0"/>
                  </a:cubicBezTo>
                  <a:close/>
                </a:path>
              </a:pathLst>
            </a:custGeom>
            <a:solidFill>
              <a:srgbClr val="14615B"/>
            </a:solidFill>
          </p:spPr>
        </p:sp>
        <p:sp>
          <p:nvSpPr>
            <p:cNvPr name="TextBox 10" id="10"/>
            <p:cNvSpPr txBox="true"/>
            <p:nvPr/>
          </p:nvSpPr>
          <p:spPr>
            <a:xfrm>
              <a:off x="0" y="-38100"/>
              <a:ext cx="1780931" cy="833783"/>
            </a:xfrm>
            <a:prstGeom prst="rect">
              <a:avLst/>
            </a:prstGeom>
          </p:spPr>
          <p:txBody>
            <a:bodyPr anchor="ctr" rtlCol="false" tIns="50800" lIns="50800" bIns="50800" rIns="50800"/>
            <a:lstStyle/>
            <a:p>
              <a:pPr algn="ctr">
                <a:lnSpc>
                  <a:spcPts val="3080"/>
                </a:lnSpc>
              </a:pPr>
            </a:p>
          </p:txBody>
        </p:sp>
      </p:grpSp>
      <p:sp>
        <p:nvSpPr>
          <p:cNvPr name="Freeform 11" id="11"/>
          <p:cNvSpPr/>
          <p:nvPr/>
        </p:nvSpPr>
        <p:spPr>
          <a:xfrm>
            <a:off x="8988488" y="1689727"/>
            <a:ext cx="2279177" cy="2116313"/>
          </a:xfrm>
          <a:custGeom>
            <a:avLst/>
            <a:gdLst/>
            <a:ahLst/>
            <a:cxnLst/>
            <a:rect r="r" b="b" t="t" l="l"/>
            <a:pathLst>
              <a:path h="2116313" w="2279177">
                <a:moveTo>
                  <a:pt x="2279177" y="0"/>
                </a:moveTo>
                <a:lnTo>
                  <a:pt x="1368188" y="0"/>
                </a:lnTo>
                <a:cubicBezTo>
                  <a:pt x="1241936" y="0"/>
                  <a:pt x="1139588" y="102347"/>
                  <a:pt x="1139588" y="228600"/>
                </a:cubicBezTo>
                <a:lnTo>
                  <a:pt x="1139588" y="1887712"/>
                </a:lnTo>
                <a:cubicBezTo>
                  <a:pt x="1139588" y="2013965"/>
                  <a:pt x="1037240" y="2116312"/>
                  <a:pt x="910988" y="2116312"/>
                </a:cubicBezTo>
                <a:lnTo>
                  <a:pt x="0" y="2116312"/>
                </a:lnTo>
              </a:path>
            </a:pathLst>
          </a:custGeom>
          <a:ln cap="flat" w="38100">
            <a:solidFill>
              <a:srgbClr val="000000"/>
            </a:solidFill>
            <a:prstDash val="solid"/>
            <a:headEnd type="none" len="sm" w="sm"/>
            <a:tailEnd type="none" len="sm" w="sm"/>
          </a:ln>
        </p:spPr>
      </p:sp>
      <p:sp>
        <p:nvSpPr>
          <p:cNvPr name="Freeform 12" id="12"/>
          <p:cNvSpPr/>
          <p:nvPr/>
        </p:nvSpPr>
        <p:spPr>
          <a:xfrm>
            <a:off x="8988488" y="6134166"/>
            <a:ext cx="1129245" cy="2103621"/>
          </a:xfrm>
          <a:custGeom>
            <a:avLst/>
            <a:gdLst/>
            <a:ahLst/>
            <a:cxnLst/>
            <a:rect r="r" b="b" t="t" l="l"/>
            <a:pathLst>
              <a:path h="2103621" w="1129245">
                <a:moveTo>
                  <a:pt x="1129245" y="2103621"/>
                </a:moveTo>
                <a:lnTo>
                  <a:pt x="228600" y="2103621"/>
                </a:lnTo>
                <a:cubicBezTo>
                  <a:pt x="102348" y="2103621"/>
                  <a:pt x="0" y="2001273"/>
                  <a:pt x="0" y="1875021"/>
                </a:cubicBezTo>
                <a:lnTo>
                  <a:pt x="0" y="0"/>
                </a:lnTo>
              </a:path>
            </a:pathLst>
          </a:custGeom>
          <a:ln cap="flat" w="38100">
            <a:solidFill>
              <a:srgbClr val="000000"/>
            </a:solidFill>
            <a:prstDash val="solid"/>
            <a:headEnd type="none" len="sm" w="sm"/>
            <a:tailEnd type="none" len="sm" w="sm"/>
          </a:ln>
        </p:spPr>
      </p:sp>
      <p:grpSp>
        <p:nvGrpSpPr>
          <p:cNvPr name="Group 13" id="13"/>
          <p:cNvGrpSpPr/>
          <p:nvPr/>
        </p:nvGrpSpPr>
        <p:grpSpPr>
          <a:xfrm rot="0">
            <a:off x="2146343" y="8687919"/>
            <a:ext cx="2904693" cy="2904693"/>
            <a:chOff x="0" y="0"/>
            <a:chExt cx="558800" cy="558800"/>
          </a:xfrm>
        </p:grpSpPr>
        <p:sp>
          <p:nvSpPr>
            <p:cNvPr name="Freeform 14" id="14"/>
            <p:cNvSpPr/>
            <p:nvPr/>
          </p:nvSpPr>
          <p:spPr>
            <a:xfrm flipH="false" flipV="false" rot="0">
              <a:off x="0" y="0"/>
              <a:ext cx="558800" cy="558800"/>
            </a:xfrm>
            <a:custGeom>
              <a:avLst/>
              <a:gdLst/>
              <a:ahLst/>
              <a:cxnLst/>
              <a:rect r="r" b="b" t="t" l="l"/>
              <a:pathLst>
                <a:path h="558800" w="558800">
                  <a:moveTo>
                    <a:pt x="0" y="558800"/>
                  </a:moveTo>
                  <a:cubicBezTo>
                    <a:pt x="0" y="411634"/>
                    <a:pt x="59606" y="267731"/>
                    <a:pt x="163669" y="163669"/>
                  </a:cubicBezTo>
                  <a:cubicBezTo>
                    <a:pt x="267731" y="59606"/>
                    <a:pt x="411634" y="0"/>
                    <a:pt x="558800" y="0"/>
                  </a:cubicBezTo>
                  <a:lnTo>
                    <a:pt x="558800" y="558800"/>
                  </a:lnTo>
                  <a:lnTo>
                    <a:pt x="0" y="558800"/>
                  </a:lnTo>
                  <a:close/>
                </a:path>
              </a:pathLst>
            </a:custGeom>
            <a:solidFill>
              <a:srgbClr val="F5D77D"/>
            </a:solidFill>
          </p:spPr>
        </p:sp>
        <p:sp>
          <p:nvSpPr>
            <p:cNvPr name="TextBox 15" id="15"/>
            <p:cNvSpPr txBox="true"/>
            <p:nvPr/>
          </p:nvSpPr>
          <p:spPr>
            <a:xfrm>
              <a:off x="165100" y="127000"/>
              <a:ext cx="393700" cy="4318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0117733" y="463546"/>
            <a:ext cx="7464525" cy="2906371"/>
            <a:chOff x="0" y="0"/>
            <a:chExt cx="1780931" cy="693419"/>
          </a:xfrm>
        </p:grpSpPr>
        <p:sp>
          <p:nvSpPr>
            <p:cNvPr name="Freeform 17" id="17"/>
            <p:cNvSpPr/>
            <p:nvPr/>
          </p:nvSpPr>
          <p:spPr>
            <a:xfrm flipH="false" flipV="false" rot="0">
              <a:off x="0" y="0"/>
              <a:ext cx="1780931" cy="693419"/>
            </a:xfrm>
            <a:custGeom>
              <a:avLst/>
              <a:gdLst/>
              <a:ahLst/>
              <a:cxnLst/>
              <a:rect r="r" b="b" t="t" l="l"/>
              <a:pathLst>
                <a:path h="693419" w="1780931">
                  <a:moveTo>
                    <a:pt x="30078" y="0"/>
                  </a:moveTo>
                  <a:lnTo>
                    <a:pt x="1750854" y="0"/>
                  </a:lnTo>
                  <a:cubicBezTo>
                    <a:pt x="1767465" y="0"/>
                    <a:pt x="1780931" y="13466"/>
                    <a:pt x="1780931" y="30078"/>
                  </a:cubicBezTo>
                  <a:lnTo>
                    <a:pt x="1780931" y="663342"/>
                  </a:lnTo>
                  <a:cubicBezTo>
                    <a:pt x="1780931" y="671319"/>
                    <a:pt x="1777762" y="678969"/>
                    <a:pt x="1772122" y="684610"/>
                  </a:cubicBezTo>
                  <a:cubicBezTo>
                    <a:pt x="1766481" y="690251"/>
                    <a:pt x="1758831" y="693419"/>
                    <a:pt x="1750854" y="693419"/>
                  </a:cubicBezTo>
                  <a:lnTo>
                    <a:pt x="30078" y="693419"/>
                  </a:lnTo>
                  <a:cubicBezTo>
                    <a:pt x="13466" y="693419"/>
                    <a:pt x="0" y="679953"/>
                    <a:pt x="0" y="663342"/>
                  </a:cubicBezTo>
                  <a:lnTo>
                    <a:pt x="0" y="30078"/>
                  </a:lnTo>
                  <a:cubicBezTo>
                    <a:pt x="0" y="22101"/>
                    <a:pt x="3169" y="14450"/>
                    <a:pt x="8810" y="8810"/>
                  </a:cubicBezTo>
                  <a:cubicBezTo>
                    <a:pt x="14450" y="3169"/>
                    <a:pt x="22101" y="0"/>
                    <a:pt x="30078" y="0"/>
                  </a:cubicBezTo>
                  <a:close/>
                </a:path>
              </a:pathLst>
            </a:custGeom>
            <a:solidFill>
              <a:srgbClr val="14615B"/>
            </a:solidFill>
          </p:spPr>
        </p:sp>
        <p:sp>
          <p:nvSpPr>
            <p:cNvPr name="TextBox 18" id="18"/>
            <p:cNvSpPr txBox="true"/>
            <p:nvPr/>
          </p:nvSpPr>
          <p:spPr>
            <a:xfrm>
              <a:off x="0" y="-38100"/>
              <a:ext cx="1780931" cy="731519"/>
            </a:xfrm>
            <a:prstGeom prst="rect">
              <a:avLst/>
            </a:prstGeom>
          </p:spPr>
          <p:txBody>
            <a:bodyPr anchor="ctr" rtlCol="false" tIns="50800" lIns="50800" bIns="50800" rIns="50800"/>
            <a:lstStyle/>
            <a:p>
              <a:pPr algn="ctr">
                <a:lnSpc>
                  <a:spcPts val="3080"/>
                </a:lnSpc>
              </a:pPr>
            </a:p>
          </p:txBody>
        </p:sp>
      </p:grpSp>
      <p:sp>
        <p:nvSpPr>
          <p:cNvPr name="TextBox 19" id="19"/>
          <p:cNvSpPr txBox="true"/>
          <p:nvPr/>
        </p:nvSpPr>
        <p:spPr>
          <a:xfrm rot="0">
            <a:off x="216333" y="1345454"/>
            <a:ext cx="4710775" cy="6969811"/>
          </a:xfrm>
          <a:prstGeom prst="rect">
            <a:avLst/>
          </a:prstGeom>
        </p:spPr>
        <p:txBody>
          <a:bodyPr anchor="t" rtlCol="false" tIns="0" lIns="0" bIns="0" rIns="0">
            <a:spAutoFit/>
          </a:bodyPr>
          <a:lstStyle/>
          <a:p>
            <a:pPr algn="l">
              <a:lnSpc>
                <a:spcPts val="6734"/>
              </a:lnSpc>
            </a:pPr>
            <a:r>
              <a:rPr lang="en-US" sz="6667" b="true">
                <a:solidFill>
                  <a:srgbClr val="FFFFFF"/>
                </a:solidFill>
                <a:latin typeface="Aileron Bold"/>
                <a:ea typeface="Aileron Bold"/>
                <a:cs typeface="Aileron Bold"/>
                <a:sym typeface="Aileron Bold"/>
              </a:rPr>
              <a:t>Challenge Problem :</a:t>
            </a:r>
          </a:p>
          <a:p>
            <a:pPr algn="l">
              <a:lnSpc>
                <a:spcPts val="6734"/>
              </a:lnSpc>
            </a:pPr>
          </a:p>
          <a:p>
            <a:pPr algn="l">
              <a:lnSpc>
                <a:spcPts val="5017"/>
              </a:lnSpc>
            </a:pPr>
            <a:r>
              <a:rPr lang="en-US" sz="4967">
                <a:solidFill>
                  <a:srgbClr val="FFFFFF"/>
                </a:solidFill>
                <a:latin typeface="Aileron"/>
                <a:ea typeface="Aileron"/>
                <a:cs typeface="Aileron"/>
                <a:sym typeface="Aileron"/>
              </a:rPr>
              <a:t>F</a:t>
            </a:r>
            <a:r>
              <a:rPr lang="en-US" sz="4967">
                <a:solidFill>
                  <a:srgbClr val="FFFFFF"/>
                </a:solidFill>
                <a:latin typeface="Aileron"/>
                <a:ea typeface="Aileron"/>
                <a:cs typeface="Aileron"/>
                <a:sym typeface="Aileron"/>
              </a:rPr>
              <a:t>or controller to regulate the same outputs within the limits of the existing physical constraints </a:t>
            </a:r>
          </a:p>
        </p:txBody>
      </p:sp>
      <p:sp>
        <p:nvSpPr>
          <p:cNvPr name="TextBox 20" id="20"/>
          <p:cNvSpPr txBox="true"/>
          <p:nvPr/>
        </p:nvSpPr>
        <p:spPr>
          <a:xfrm rot="0">
            <a:off x="10825470" y="829412"/>
            <a:ext cx="6049051" cy="1198549"/>
          </a:xfrm>
          <a:prstGeom prst="rect">
            <a:avLst/>
          </a:prstGeom>
        </p:spPr>
        <p:txBody>
          <a:bodyPr anchor="t" rtlCol="false" tIns="0" lIns="0" bIns="0" rIns="0">
            <a:spAutoFit/>
          </a:bodyPr>
          <a:lstStyle/>
          <a:p>
            <a:pPr algn="ctr">
              <a:lnSpc>
                <a:spcPts val="4813"/>
              </a:lnSpc>
            </a:pPr>
            <a:r>
              <a:rPr lang="en-US" b="true" sz="3438">
                <a:solidFill>
                  <a:srgbClr val="F5D77D"/>
                </a:solidFill>
                <a:latin typeface="Montserrat Bold"/>
                <a:ea typeface="Montserrat Bold"/>
                <a:cs typeface="Montserrat Bold"/>
                <a:sym typeface="Montserrat Bold"/>
              </a:rPr>
              <a:t>Dye Concentration Regulator</a:t>
            </a:r>
          </a:p>
        </p:txBody>
      </p:sp>
      <p:sp>
        <p:nvSpPr>
          <p:cNvPr name="TextBox 21" id="21"/>
          <p:cNvSpPr txBox="true"/>
          <p:nvPr/>
        </p:nvSpPr>
        <p:spPr>
          <a:xfrm rot="0">
            <a:off x="5860455" y="4256989"/>
            <a:ext cx="6256065" cy="1367455"/>
          </a:xfrm>
          <a:prstGeom prst="rect">
            <a:avLst/>
          </a:prstGeom>
        </p:spPr>
        <p:txBody>
          <a:bodyPr anchor="t" rtlCol="false" tIns="0" lIns="0" bIns="0" rIns="0">
            <a:spAutoFit/>
          </a:bodyPr>
          <a:lstStyle/>
          <a:p>
            <a:pPr algn="ctr">
              <a:lnSpc>
                <a:spcPts val="5478"/>
              </a:lnSpc>
            </a:pPr>
            <a:r>
              <a:rPr lang="en-US" b="true" sz="3913">
                <a:solidFill>
                  <a:srgbClr val="F5D77D"/>
                </a:solidFill>
                <a:latin typeface="Canva Sans Bold"/>
                <a:ea typeface="Canva Sans Bold"/>
                <a:cs typeface="Canva Sans Bold"/>
                <a:sym typeface="Canva Sans Bold"/>
              </a:rPr>
              <a:t>Physical System</a:t>
            </a:r>
          </a:p>
          <a:p>
            <a:pPr algn="ctr">
              <a:lnSpc>
                <a:spcPts val="5478"/>
              </a:lnSpc>
              <a:spcBef>
                <a:spcPct val="0"/>
              </a:spcBef>
            </a:pPr>
            <a:r>
              <a:rPr lang="en-US" b="true" sz="3913">
                <a:solidFill>
                  <a:srgbClr val="F5D77D"/>
                </a:solidFill>
                <a:latin typeface="Canva Sans Bold"/>
                <a:ea typeface="Canva Sans Bold"/>
                <a:cs typeface="Canva Sans Bold"/>
                <a:sym typeface="Canva Sans Bold"/>
              </a:rPr>
              <a:t>(Reactor stability control)</a:t>
            </a:r>
          </a:p>
        </p:txBody>
      </p:sp>
      <p:sp>
        <p:nvSpPr>
          <p:cNvPr name="TextBox 22" id="22"/>
          <p:cNvSpPr txBox="true"/>
          <p:nvPr/>
        </p:nvSpPr>
        <p:spPr>
          <a:xfrm rot="0">
            <a:off x="10521567" y="2111702"/>
            <a:ext cx="6656858" cy="825673"/>
          </a:xfrm>
          <a:prstGeom prst="rect">
            <a:avLst/>
          </a:prstGeom>
        </p:spPr>
        <p:txBody>
          <a:bodyPr anchor="t" rtlCol="false" tIns="0" lIns="0" bIns="0" rIns="0">
            <a:spAutoFit/>
          </a:bodyPr>
          <a:lstStyle/>
          <a:p>
            <a:pPr algn="ctr">
              <a:lnSpc>
                <a:spcPts val="3315"/>
              </a:lnSpc>
              <a:spcBef>
                <a:spcPct val="0"/>
              </a:spcBef>
            </a:pPr>
            <a:r>
              <a:rPr lang="en-US" sz="2368">
                <a:solidFill>
                  <a:srgbClr val="FFFFFF"/>
                </a:solidFill>
                <a:latin typeface="Canva Sans"/>
                <a:ea typeface="Canva Sans"/>
                <a:cs typeface="Canva Sans"/>
                <a:sym typeface="Canva Sans"/>
              </a:rPr>
              <a:t>Studying the flow, sensor accuracy, and system response </a:t>
            </a:r>
          </a:p>
        </p:txBody>
      </p:sp>
      <p:sp>
        <p:nvSpPr>
          <p:cNvPr name="TextBox 23" id="23"/>
          <p:cNvSpPr txBox="true"/>
          <p:nvPr/>
        </p:nvSpPr>
        <p:spPr>
          <a:xfrm rot="0">
            <a:off x="10907540" y="7029516"/>
            <a:ext cx="5884912" cy="1198549"/>
          </a:xfrm>
          <a:prstGeom prst="rect">
            <a:avLst/>
          </a:prstGeom>
        </p:spPr>
        <p:txBody>
          <a:bodyPr anchor="t" rtlCol="false" tIns="0" lIns="0" bIns="0" rIns="0">
            <a:spAutoFit/>
          </a:bodyPr>
          <a:lstStyle/>
          <a:p>
            <a:pPr algn="ctr">
              <a:lnSpc>
                <a:spcPts val="4813"/>
              </a:lnSpc>
            </a:pPr>
            <a:r>
              <a:rPr lang="en-US" b="true" sz="3438">
                <a:solidFill>
                  <a:srgbClr val="F5D77D"/>
                </a:solidFill>
                <a:latin typeface="Montserrat Bold"/>
                <a:ea typeface="Montserrat Bold"/>
                <a:cs typeface="Montserrat Bold"/>
                <a:sym typeface="Montserrat Bold"/>
              </a:rPr>
              <a:t>State estimation and safety supervision</a:t>
            </a:r>
          </a:p>
        </p:txBody>
      </p:sp>
      <p:sp>
        <p:nvSpPr>
          <p:cNvPr name="TextBox 24" id="24"/>
          <p:cNvSpPr txBox="true"/>
          <p:nvPr/>
        </p:nvSpPr>
        <p:spPr>
          <a:xfrm rot="0">
            <a:off x="10825470" y="8352211"/>
            <a:ext cx="6134591" cy="906089"/>
          </a:xfrm>
          <a:prstGeom prst="rect">
            <a:avLst/>
          </a:prstGeom>
        </p:spPr>
        <p:txBody>
          <a:bodyPr anchor="t" rtlCol="false" tIns="0" lIns="0" bIns="0" rIns="0">
            <a:spAutoFit/>
          </a:bodyPr>
          <a:lstStyle/>
          <a:p>
            <a:pPr algn="ctr">
              <a:lnSpc>
                <a:spcPts val="3608"/>
              </a:lnSpc>
              <a:spcBef>
                <a:spcPct val="0"/>
              </a:spcBef>
            </a:pPr>
            <a:r>
              <a:rPr lang="en-US" sz="2577">
                <a:solidFill>
                  <a:srgbClr val="FFFFFF"/>
                </a:solidFill>
                <a:latin typeface="Canva Sans"/>
                <a:ea typeface="Canva Sans"/>
                <a:cs typeface="Canva Sans"/>
                <a:sym typeface="Canva Sans"/>
              </a:rPr>
              <a:t>Comparing controllers over multiple tests, watching for “unsafe” conditions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98406" y="0"/>
            <a:ext cx="4054213" cy="10287000"/>
            <a:chOff x="0" y="0"/>
            <a:chExt cx="1067776" cy="2709333"/>
          </a:xfrm>
        </p:grpSpPr>
        <p:sp>
          <p:nvSpPr>
            <p:cNvPr name="Freeform 3" id="3"/>
            <p:cNvSpPr/>
            <p:nvPr/>
          </p:nvSpPr>
          <p:spPr>
            <a:xfrm flipH="false" flipV="false" rot="0">
              <a:off x="0" y="0"/>
              <a:ext cx="1067776" cy="2709333"/>
            </a:xfrm>
            <a:custGeom>
              <a:avLst/>
              <a:gdLst/>
              <a:ahLst/>
              <a:cxnLst/>
              <a:rect r="r" b="b" t="t" l="l"/>
              <a:pathLst>
                <a:path h="2709333" w="1067776">
                  <a:moveTo>
                    <a:pt x="87842" y="0"/>
                  </a:moveTo>
                  <a:lnTo>
                    <a:pt x="979935" y="0"/>
                  </a:lnTo>
                  <a:cubicBezTo>
                    <a:pt x="1003232" y="0"/>
                    <a:pt x="1025575" y="9255"/>
                    <a:pt x="1042048" y="25728"/>
                  </a:cubicBezTo>
                  <a:cubicBezTo>
                    <a:pt x="1058522" y="42202"/>
                    <a:pt x="1067776" y="64545"/>
                    <a:pt x="1067776" y="87842"/>
                  </a:cubicBezTo>
                  <a:lnTo>
                    <a:pt x="1067776" y="2621492"/>
                  </a:lnTo>
                  <a:cubicBezTo>
                    <a:pt x="1067776" y="2644789"/>
                    <a:pt x="1058522" y="2667132"/>
                    <a:pt x="1042048" y="2683605"/>
                  </a:cubicBezTo>
                  <a:cubicBezTo>
                    <a:pt x="1025575" y="2700079"/>
                    <a:pt x="1003232" y="2709333"/>
                    <a:pt x="979935" y="2709333"/>
                  </a:cubicBezTo>
                  <a:lnTo>
                    <a:pt x="87842" y="2709333"/>
                  </a:lnTo>
                  <a:cubicBezTo>
                    <a:pt x="39328" y="2709333"/>
                    <a:pt x="0" y="2670005"/>
                    <a:pt x="0" y="2621492"/>
                  </a:cubicBezTo>
                  <a:lnTo>
                    <a:pt x="0" y="87842"/>
                  </a:lnTo>
                  <a:cubicBezTo>
                    <a:pt x="0" y="64545"/>
                    <a:pt x="9255" y="42202"/>
                    <a:pt x="25728" y="25728"/>
                  </a:cubicBezTo>
                  <a:cubicBezTo>
                    <a:pt x="42202" y="9255"/>
                    <a:pt x="64545" y="0"/>
                    <a:pt x="87842" y="0"/>
                  </a:cubicBezTo>
                  <a:close/>
                </a:path>
              </a:pathLst>
            </a:custGeom>
            <a:solidFill>
              <a:srgbClr val="14615B"/>
            </a:solidFill>
          </p:spPr>
        </p:sp>
        <p:sp>
          <p:nvSpPr>
            <p:cNvPr name="TextBox 4" id="4"/>
            <p:cNvSpPr txBox="true"/>
            <p:nvPr/>
          </p:nvSpPr>
          <p:spPr>
            <a:xfrm>
              <a:off x="0" y="-38100"/>
              <a:ext cx="1067776" cy="274743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4114796" y="3523570"/>
            <a:ext cx="4319024" cy="4154115"/>
          </a:xfrm>
          <a:custGeom>
            <a:avLst/>
            <a:gdLst/>
            <a:ahLst/>
            <a:cxnLst/>
            <a:rect r="r" b="b" t="t" l="l"/>
            <a:pathLst>
              <a:path h="4154115" w="4319024">
                <a:moveTo>
                  <a:pt x="0" y="0"/>
                </a:moveTo>
                <a:lnTo>
                  <a:pt x="4319024" y="0"/>
                </a:lnTo>
                <a:lnTo>
                  <a:pt x="4319024" y="4154115"/>
                </a:lnTo>
                <a:lnTo>
                  <a:pt x="0" y="4154115"/>
                </a:lnTo>
                <a:lnTo>
                  <a:pt x="0" y="0"/>
                </a:lnTo>
                <a:close/>
              </a:path>
            </a:pathLst>
          </a:custGeom>
          <a:blipFill>
            <a:blip r:embed="rId2"/>
            <a:stretch>
              <a:fillRect l="0" t="0" r="0" b="0"/>
            </a:stretch>
          </a:blipFill>
        </p:spPr>
      </p:sp>
      <p:grpSp>
        <p:nvGrpSpPr>
          <p:cNvPr name="Group 6" id="6"/>
          <p:cNvGrpSpPr/>
          <p:nvPr/>
        </p:nvGrpSpPr>
        <p:grpSpPr>
          <a:xfrm rot="0">
            <a:off x="9144000" y="2534185"/>
            <a:ext cx="8188819" cy="6733640"/>
            <a:chOff x="0" y="0"/>
            <a:chExt cx="2156726" cy="1773469"/>
          </a:xfrm>
        </p:grpSpPr>
        <p:sp>
          <p:nvSpPr>
            <p:cNvPr name="Freeform 7" id="7"/>
            <p:cNvSpPr/>
            <p:nvPr/>
          </p:nvSpPr>
          <p:spPr>
            <a:xfrm flipH="false" flipV="false" rot="0">
              <a:off x="0" y="0"/>
              <a:ext cx="2156726" cy="1773469"/>
            </a:xfrm>
            <a:custGeom>
              <a:avLst/>
              <a:gdLst/>
              <a:ahLst/>
              <a:cxnLst/>
              <a:rect r="r" b="b" t="t" l="l"/>
              <a:pathLst>
                <a:path h="1773469" w="2156726">
                  <a:moveTo>
                    <a:pt x="43490" y="0"/>
                  </a:moveTo>
                  <a:lnTo>
                    <a:pt x="2113236" y="0"/>
                  </a:lnTo>
                  <a:cubicBezTo>
                    <a:pt x="2124771" y="0"/>
                    <a:pt x="2135832" y="4582"/>
                    <a:pt x="2143988" y="12738"/>
                  </a:cubicBezTo>
                  <a:cubicBezTo>
                    <a:pt x="2152144" y="20894"/>
                    <a:pt x="2156726" y="31955"/>
                    <a:pt x="2156726" y="43490"/>
                  </a:cubicBezTo>
                  <a:lnTo>
                    <a:pt x="2156726" y="1729979"/>
                  </a:lnTo>
                  <a:cubicBezTo>
                    <a:pt x="2156726" y="1741514"/>
                    <a:pt x="2152144" y="1752575"/>
                    <a:pt x="2143988" y="1760731"/>
                  </a:cubicBezTo>
                  <a:cubicBezTo>
                    <a:pt x="2135832" y="1768887"/>
                    <a:pt x="2124771" y="1773469"/>
                    <a:pt x="2113236" y="1773469"/>
                  </a:cubicBezTo>
                  <a:lnTo>
                    <a:pt x="43490" y="1773469"/>
                  </a:lnTo>
                  <a:cubicBezTo>
                    <a:pt x="31955" y="1773469"/>
                    <a:pt x="20894" y="1768887"/>
                    <a:pt x="12738" y="1760731"/>
                  </a:cubicBezTo>
                  <a:cubicBezTo>
                    <a:pt x="4582" y="1752575"/>
                    <a:pt x="0" y="1741514"/>
                    <a:pt x="0" y="1729979"/>
                  </a:cubicBezTo>
                  <a:lnTo>
                    <a:pt x="0" y="43490"/>
                  </a:lnTo>
                  <a:cubicBezTo>
                    <a:pt x="0" y="31955"/>
                    <a:pt x="4582" y="20894"/>
                    <a:pt x="12738" y="12738"/>
                  </a:cubicBezTo>
                  <a:cubicBezTo>
                    <a:pt x="20894" y="4582"/>
                    <a:pt x="31955" y="0"/>
                    <a:pt x="43490" y="0"/>
                  </a:cubicBezTo>
                  <a:close/>
                </a:path>
              </a:pathLst>
            </a:custGeom>
            <a:solidFill>
              <a:srgbClr val="14615B"/>
            </a:solidFill>
          </p:spPr>
        </p:sp>
        <p:sp>
          <p:nvSpPr>
            <p:cNvPr name="TextBox 8" id="8"/>
            <p:cNvSpPr txBox="true"/>
            <p:nvPr/>
          </p:nvSpPr>
          <p:spPr>
            <a:xfrm>
              <a:off x="0" y="-38100"/>
              <a:ext cx="2156726" cy="1811569"/>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4969870" y="362536"/>
            <a:ext cx="1923558" cy="1923558"/>
          </a:xfrm>
          <a:custGeom>
            <a:avLst/>
            <a:gdLst/>
            <a:ahLst/>
            <a:cxnLst/>
            <a:rect r="r" b="b" t="t" l="l"/>
            <a:pathLst>
              <a:path h="1923558" w="1923558">
                <a:moveTo>
                  <a:pt x="0" y="0"/>
                </a:moveTo>
                <a:lnTo>
                  <a:pt x="1923559" y="0"/>
                </a:lnTo>
                <a:lnTo>
                  <a:pt x="1923559" y="1923558"/>
                </a:lnTo>
                <a:lnTo>
                  <a:pt x="0" y="1923558"/>
                </a:lnTo>
                <a:lnTo>
                  <a:pt x="0" y="0"/>
                </a:lnTo>
                <a:close/>
              </a:path>
            </a:pathLst>
          </a:custGeom>
          <a:blipFill>
            <a:blip r:embed="rId3"/>
            <a:stretch>
              <a:fillRect l="0" t="0" r="0" b="0"/>
            </a:stretch>
          </a:blipFill>
        </p:spPr>
      </p:sp>
      <p:sp>
        <p:nvSpPr>
          <p:cNvPr name="TextBox 10" id="10"/>
          <p:cNvSpPr txBox="true"/>
          <p:nvPr/>
        </p:nvSpPr>
        <p:spPr>
          <a:xfrm rot="0">
            <a:off x="4114796" y="1438615"/>
            <a:ext cx="11213261" cy="825881"/>
          </a:xfrm>
          <a:prstGeom prst="rect">
            <a:avLst/>
          </a:prstGeom>
        </p:spPr>
        <p:txBody>
          <a:bodyPr anchor="t" rtlCol="false" tIns="0" lIns="0" bIns="0" rIns="0">
            <a:spAutoFit/>
          </a:bodyPr>
          <a:lstStyle/>
          <a:p>
            <a:pPr algn="l">
              <a:lnSpc>
                <a:spcPts val="6262"/>
              </a:lnSpc>
            </a:pPr>
            <a:r>
              <a:rPr lang="en-US" sz="6200" b="true">
                <a:solidFill>
                  <a:srgbClr val="14615B"/>
                </a:solidFill>
                <a:latin typeface="Aileron Bold"/>
                <a:ea typeface="Aileron Bold"/>
                <a:cs typeface="Aileron Bold"/>
                <a:sym typeface="Aileron Bold"/>
              </a:rPr>
              <a:t>Relevance and Background</a:t>
            </a:r>
          </a:p>
        </p:txBody>
      </p:sp>
      <p:sp>
        <p:nvSpPr>
          <p:cNvPr name="TextBox 11" id="11"/>
          <p:cNvSpPr txBox="true"/>
          <p:nvPr/>
        </p:nvSpPr>
        <p:spPr>
          <a:xfrm rot="0">
            <a:off x="9721427" y="3568243"/>
            <a:ext cx="7403365" cy="2948305"/>
          </a:xfrm>
          <a:prstGeom prst="rect">
            <a:avLst/>
          </a:prstGeom>
        </p:spPr>
        <p:txBody>
          <a:bodyPr anchor="t" rtlCol="false" tIns="0" lIns="0" bIns="0" rIns="0">
            <a:spAutoFit/>
          </a:bodyPr>
          <a:lstStyle/>
          <a:p>
            <a:pPr algn="l">
              <a:lnSpc>
                <a:spcPts val="3919"/>
              </a:lnSpc>
            </a:pPr>
          </a:p>
          <a:p>
            <a:pPr algn="l" marL="604519" indent="-302260" lvl="1">
              <a:lnSpc>
                <a:spcPts val="3919"/>
              </a:lnSpc>
              <a:buFont typeface="Arial"/>
              <a:buChar char="•"/>
            </a:pPr>
            <a:r>
              <a:rPr lang="en-US" sz="2799">
                <a:solidFill>
                  <a:srgbClr val="FFFFFF"/>
                </a:solidFill>
                <a:latin typeface="Montserrat"/>
                <a:ea typeface="Montserrat"/>
                <a:cs typeface="Montserrat"/>
                <a:sym typeface="Montserrat"/>
              </a:rPr>
              <a:t>SMRs use boron in their control rods </a:t>
            </a:r>
          </a:p>
          <a:p>
            <a:pPr algn="l" marL="1209039" indent="-403013" lvl="2">
              <a:lnSpc>
                <a:spcPts val="3919"/>
              </a:lnSpc>
              <a:buFont typeface="Arial"/>
              <a:buChar char="⚬"/>
            </a:pPr>
            <a:r>
              <a:rPr lang="en-US" sz="2799">
                <a:solidFill>
                  <a:srgbClr val="FFFFFF"/>
                </a:solidFill>
                <a:latin typeface="Montserrat"/>
                <a:ea typeface="Montserrat"/>
                <a:cs typeface="Montserrat"/>
                <a:sym typeface="Montserrat"/>
              </a:rPr>
              <a:t>C</a:t>
            </a:r>
            <a:r>
              <a:rPr lang="en-US" sz="2799">
                <a:solidFill>
                  <a:srgbClr val="FFFFFF"/>
                </a:solidFill>
                <a:latin typeface="Montserrat"/>
                <a:ea typeface="Montserrat"/>
                <a:cs typeface="Montserrat"/>
                <a:sym typeface="Montserrat"/>
              </a:rPr>
              <a:t>ontrolling rate of reaction</a:t>
            </a:r>
          </a:p>
          <a:p>
            <a:pPr algn="l" marL="604519" indent="-302260" lvl="1">
              <a:lnSpc>
                <a:spcPts val="3919"/>
              </a:lnSpc>
              <a:buFont typeface="Arial"/>
              <a:buChar char="•"/>
            </a:pPr>
            <a:r>
              <a:rPr lang="en-US" sz="2799">
                <a:solidFill>
                  <a:srgbClr val="FFFFFF"/>
                </a:solidFill>
                <a:latin typeface="Montserrat"/>
                <a:ea typeface="Montserrat"/>
                <a:cs typeface="Montserrat"/>
                <a:sym typeface="Montserrat"/>
              </a:rPr>
              <a:t>Helped in past nuclear disasters </a:t>
            </a:r>
          </a:p>
          <a:p>
            <a:pPr algn="l" marL="604519" indent="-302260" lvl="1">
              <a:lnSpc>
                <a:spcPts val="3919"/>
              </a:lnSpc>
              <a:buFont typeface="Arial"/>
              <a:buChar char="•"/>
            </a:pPr>
            <a:r>
              <a:rPr lang="en-US" sz="2799">
                <a:solidFill>
                  <a:srgbClr val="FFFFFF"/>
                </a:solidFill>
                <a:latin typeface="Montserrat"/>
                <a:ea typeface="Montserrat"/>
                <a:cs typeface="Montserrat"/>
                <a:sym typeface="Montserrat"/>
              </a:rPr>
              <a:t>Too much boron, reactor shuts off</a:t>
            </a:r>
          </a:p>
          <a:p>
            <a:pPr algn="l" marL="604519" indent="-302260" lvl="1">
              <a:lnSpc>
                <a:spcPts val="3919"/>
              </a:lnSpc>
              <a:spcBef>
                <a:spcPct val="0"/>
              </a:spcBef>
              <a:buFont typeface="Arial"/>
              <a:buChar char="•"/>
            </a:pPr>
            <a:r>
              <a:rPr lang="en-US" sz="2799">
                <a:solidFill>
                  <a:srgbClr val="FFFFFF"/>
                </a:solidFill>
                <a:latin typeface="Montserrat"/>
                <a:ea typeface="Montserrat"/>
                <a:cs typeface="Montserrat"/>
                <a:sym typeface="Montserrat"/>
              </a:rPr>
              <a:t>Too little boron, no coolant</a:t>
            </a:r>
          </a:p>
        </p:txBody>
      </p:sp>
      <p:sp>
        <p:nvSpPr>
          <p:cNvPr name="TextBox 12" id="12"/>
          <p:cNvSpPr txBox="true"/>
          <p:nvPr/>
        </p:nvSpPr>
        <p:spPr>
          <a:xfrm rot="0">
            <a:off x="9721427" y="7246011"/>
            <a:ext cx="6835230" cy="967105"/>
          </a:xfrm>
          <a:prstGeom prst="rect">
            <a:avLst/>
          </a:prstGeom>
        </p:spPr>
        <p:txBody>
          <a:bodyPr anchor="t" rtlCol="false" tIns="0" lIns="0" bIns="0" rIns="0">
            <a:spAutoFit/>
          </a:bodyPr>
          <a:lstStyle/>
          <a:p>
            <a:pPr algn="l">
              <a:lnSpc>
                <a:spcPts val="3919"/>
              </a:lnSpc>
            </a:pPr>
          </a:p>
          <a:p>
            <a:pPr algn="l" marL="604519" indent="-302260" lvl="1">
              <a:lnSpc>
                <a:spcPts val="3919"/>
              </a:lnSpc>
              <a:spcBef>
                <a:spcPct val="0"/>
              </a:spcBef>
              <a:buFont typeface="Arial"/>
              <a:buChar char="•"/>
            </a:pPr>
            <a:r>
              <a:rPr lang="en-US" sz="2799">
                <a:solidFill>
                  <a:srgbClr val="FFFFFF"/>
                </a:solidFill>
                <a:latin typeface="Montserrat"/>
                <a:ea typeface="Montserrat"/>
                <a:cs typeface="Montserrat"/>
                <a:sym typeface="Montserrat"/>
              </a:rPr>
              <a:t> Emergency shutdown (scram)</a:t>
            </a:r>
          </a:p>
        </p:txBody>
      </p:sp>
      <p:sp>
        <p:nvSpPr>
          <p:cNvPr name="TextBox 13" id="13"/>
          <p:cNvSpPr txBox="true"/>
          <p:nvPr/>
        </p:nvSpPr>
        <p:spPr>
          <a:xfrm rot="0">
            <a:off x="4114796" y="7825471"/>
            <a:ext cx="3465016" cy="372745"/>
          </a:xfrm>
          <a:prstGeom prst="rect">
            <a:avLst/>
          </a:prstGeom>
        </p:spPr>
        <p:txBody>
          <a:bodyPr anchor="t" rtlCol="false" tIns="0" lIns="0" bIns="0" rIns="0">
            <a:spAutoFit/>
          </a:bodyPr>
          <a:lstStyle/>
          <a:p>
            <a:pPr algn="l">
              <a:lnSpc>
                <a:spcPts val="3080"/>
              </a:lnSpc>
              <a:spcBef>
                <a:spcPct val="0"/>
              </a:spcBef>
            </a:pPr>
            <a:r>
              <a:rPr lang="en-US" sz="2200">
                <a:solidFill>
                  <a:srgbClr val="000000"/>
                </a:solidFill>
                <a:latin typeface="Montserrat"/>
                <a:ea typeface="Montserrat"/>
                <a:cs typeface="Montserrat"/>
                <a:sym typeface="Montserrat"/>
              </a:rPr>
              <a:t>(Zoomie &amp; Zoomie, 2024)</a:t>
            </a:r>
          </a:p>
        </p:txBody>
      </p:sp>
      <p:sp>
        <p:nvSpPr>
          <p:cNvPr name="TextBox 14" id="14"/>
          <p:cNvSpPr txBox="true"/>
          <p:nvPr/>
        </p:nvSpPr>
        <p:spPr>
          <a:xfrm rot="0">
            <a:off x="9882598" y="3026919"/>
            <a:ext cx="6049051" cy="588949"/>
          </a:xfrm>
          <a:prstGeom prst="rect">
            <a:avLst/>
          </a:prstGeom>
        </p:spPr>
        <p:txBody>
          <a:bodyPr anchor="t" rtlCol="false" tIns="0" lIns="0" bIns="0" rIns="0">
            <a:spAutoFit/>
          </a:bodyPr>
          <a:lstStyle/>
          <a:p>
            <a:pPr algn="l">
              <a:lnSpc>
                <a:spcPts val="4813"/>
              </a:lnSpc>
            </a:pPr>
            <a:r>
              <a:rPr lang="en-US" sz="3438" b="true">
                <a:solidFill>
                  <a:srgbClr val="F5D77D"/>
                </a:solidFill>
                <a:latin typeface="Montserrat Bold"/>
                <a:ea typeface="Montserrat Bold"/>
                <a:cs typeface="Montserrat Bold"/>
                <a:sym typeface="Montserrat Bold"/>
              </a:rPr>
              <a:t>Relevance</a:t>
            </a:r>
          </a:p>
        </p:txBody>
      </p:sp>
      <p:sp>
        <p:nvSpPr>
          <p:cNvPr name="TextBox 15" id="15"/>
          <p:cNvSpPr txBox="true"/>
          <p:nvPr/>
        </p:nvSpPr>
        <p:spPr>
          <a:xfrm rot="0">
            <a:off x="9882598" y="7007663"/>
            <a:ext cx="6049051" cy="588949"/>
          </a:xfrm>
          <a:prstGeom prst="rect">
            <a:avLst/>
          </a:prstGeom>
        </p:spPr>
        <p:txBody>
          <a:bodyPr anchor="t" rtlCol="false" tIns="0" lIns="0" bIns="0" rIns="0">
            <a:spAutoFit/>
          </a:bodyPr>
          <a:lstStyle/>
          <a:p>
            <a:pPr algn="l">
              <a:lnSpc>
                <a:spcPts val="4813"/>
              </a:lnSpc>
            </a:pPr>
            <a:r>
              <a:rPr lang="en-US" sz="3438" b="true">
                <a:solidFill>
                  <a:srgbClr val="F5D77D"/>
                </a:solidFill>
                <a:latin typeface="Montserrat Bold"/>
                <a:ea typeface="Montserrat Bold"/>
                <a:cs typeface="Montserrat Bold"/>
                <a:sym typeface="Montserrat Bold"/>
              </a:rPr>
              <a:t>Impact</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26647" y="2410844"/>
            <a:ext cx="4833521" cy="5544927"/>
            <a:chOff x="0" y="0"/>
            <a:chExt cx="1273026" cy="1460392"/>
          </a:xfrm>
        </p:grpSpPr>
        <p:sp>
          <p:nvSpPr>
            <p:cNvPr name="Freeform 3" id="3"/>
            <p:cNvSpPr/>
            <p:nvPr/>
          </p:nvSpPr>
          <p:spPr>
            <a:xfrm flipH="false" flipV="false" rot="0">
              <a:off x="0" y="0"/>
              <a:ext cx="1273026" cy="1460392"/>
            </a:xfrm>
            <a:custGeom>
              <a:avLst/>
              <a:gdLst/>
              <a:ahLst/>
              <a:cxnLst/>
              <a:rect r="r" b="b" t="t" l="l"/>
              <a:pathLst>
                <a:path h="1460392" w="1273026">
                  <a:moveTo>
                    <a:pt x="40043" y="0"/>
                  </a:moveTo>
                  <a:lnTo>
                    <a:pt x="1232983" y="0"/>
                  </a:lnTo>
                  <a:cubicBezTo>
                    <a:pt x="1255098" y="0"/>
                    <a:pt x="1273026" y="17928"/>
                    <a:pt x="1273026" y="40043"/>
                  </a:cubicBezTo>
                  <a:lnTo>
                    <a:pt x="1273026" y="1420350"/>
                  </a:lnTo>
                  <a:cubicBezTo>
                    <a:pt x="1273026" y="1442465"/>
                    <a:pt x="1255098" y="1460392"/>
                    <a:pt x="1232983" y="1460392"/>
                  </a:cubicBezTo>
                  <a:lnTo>
                    <a:pt x="40043" y="1460392"/>
                  </a:lnTo>
                  <a:cubicBezTo>
                    <a:pt x="17928" y="1460392"/>
                    <a:pt x="0" y="1442465"/>
                    <a:pt x="0" y="1420350"/>
                  </a:cubicBezTo>
                  <a:lnTo>
                    <a:pt x="0" y="40043"/>
                  </a:lnTo>
                  <a:cubicBezTo>
                    <a:pt x="0" y="17928"/>
                    <a:pt x="17928" y="0"/>
                    <a:pt x="40043" y="0"/>
                  </a:cubicBezTo>
                  <a:close/>
                </a:path>
              </a:pathLst>
            </a:custGeom>
            <a:solidFill>
              <a:srgbClr val="14615B"/>
            </a:solidFill>
          </p:spPr>
        </p:sp>
        <p:sp>
          <p:nvSpPr>
            <p:cNvPr name="TextBox 4" id="4"/>
            <p:cNvSpPr txBox="true"/>
            <p:nvPr/>
          </p:nvSpPr>
          <p:spPr>
            <a:xfrm>
              <a:off x="0" y="-38100"/>
              <a:ext cx="1273026" cy="149849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726647" y="8174847"/>
            <a:ext cx="14918295" cy="1593838"/>
            <a:chOff x="0" y="0"/>
            <a:chExt cx="3929098" cy="419776"/>
          </a:xfrm>
        </p:grpSpPr>
        <p:sp>
          <p:nvSpPr>
            <p:cNvPr name="Freeform 6" id="6"/>
            <p:cNvSpPr/>
            <p:nvPr/>
          </p:nvSpPr>
          <p:spPr>
            <a:xfrm flipH="false" flipV="false" rot="0">
              <a:off x="0" y="0"/>
              <a:ext cx="3929099" cy="419776"/>
            </a:xfrm>
            <a:custGeom>
              <a:avLst/>
              <a:gdLst/>
              <a:ahLst/>
              <a:cxnLst/>
              <a:rect r="r" b="b" t="t" l="l"/>
              <a:pathLst>
                <a:path h="419776" w="3929099">
                  <a:moveTo>
                    <a:pt x="12974" y="0"/>
                  </a:moveTo>
                  <a:lnTo>
                    <a:pt x="3916125" y="0"/>
                  </a:lnTo>
                  <a:cubicBezTo>
                    <a:pt x="3923290" y="0"/>
                    <a:pt x="3929099" y="5809"/>
                    <a:pt x="3929099" y="12974"/>
                  </a:cubicBezTo>
                  <a:lnTo>
                    <a:pt x="3929099" y="406802"/>
                  </a:lnTo>
                  <a:cubicBezTo>
                    <a:pt x="3929099" y="410243"/>
                    <a:pt x="3927732" y="413543"/>
                    <a:pt x="3925299" y="415976"/>
                  </a:cubicBezTo>
                  <a:cubicBezTo>
                    <a:pt x="3922866" y="418409"/>
                    <a:pt x="3919565" y="419776"/>
                    <a:pt x="3916125" y="419776"/>
                  </a:cubicBezTo>
                  <a:lnTo>
                    <a:pt x="12974" y="419776"/>
                  </a:lnTo>
                  <a:cubicBezTo>
                    <a:pt x="9533" y="419776"/>
                    <a:pt x="6233" y="418409"/>
                    <a:pt x="3800" y="415976"/>
                  </a:cubicBezTo>
                  <a:cubicBezTo>
                    <a:pt x="1367" y="413543"/>
                    <a:pt x="0" y="410243"/>
                    <a:pt x="0" y="406802"/>
                  </a:cubicBezTo>
                  <a:lnTo>
                    <a:pt x="0" y="12974"/>
                  </a:lnTo>
                  <a:cubicBezTo>
                    <a:pt x="0" y="9533"/>
                    <a:pt x="1367" y="6233"/>
                    <a:pt x="3800" y="3800"/>
                  </a:cubicBezTo>
                  <a:cubicBezTo>
                    <a:pt x="6233" y="1367"/>
                    <a:pt x="9533" y="0"/>
                    <a:pt x="12974" y="0"/>
                  </a:cubicBezTo>
                  <a:close/>
                </a:path>
              </a:pathLst>
            </a:custGeom>
            <a:solidFill>
              <a:srgbClr val="14615B"/>
            </a:solidFill>
          </p:spPr>
        </p:sp>
        <p:sp>
          <p:nvSpPr>
            <p:cNvPr name="TextBox 7" id="7"/>
            <p:cNvSpPr txBox="true"/>
            <p:nvPr/>
          </p:nvSpPr>
          <p:spPr>
            <a:xfrm>
              <a:off x="0" y="-38100"/>
              <a:ext cx="3929098" cy="457876"/>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6333277" y="8567763"/>
            <a:ext cx="8710038" cy="763270"/>
          </a:xfrm>
          <a:prstGeom prst="rect">
            <a:avLst/>
          </a:prstGeom>
        </p:spPr>
        <p:txBody>
          <a:bodyPr anchor="t" rtlCol="false" tIns="0" lIns="0" bIns="0" rIns="0">
            <a:spAutoFit/>
          </a:bodyPr>
          <a:lstStyle/>
          <a:p>
            <a:pPr algn="l">
              <a:lnSpc>
                <a:spcPts val="3080"/>
              </a:lnSpc>
            </a:pPr>
            <a:r>
              <a:rPr lang="en-US" sz="2200">
                <a:solidFill>
                  <a:srgbClr val="FFFFFF"/>
                </a:solidFill>
                <a:latin typeface="Montserrat"/>
                <a:ea typeface="Montserrat"/>
                <a:cs typeface="Montserrat"/>
                <a:sym typeface="Montserrat"/>
              </a:rPr>
              <a:t>U</a:t>
            </a:r>
            <a:r>
              <a:rPr lang="en-US" sz="2200">
                <a:solidFill>
                  <a:srgbClr val="FFFFFF"/>
                </a:solidFill>
                <a:latin typeface="Montserrat"/>
                <a:ea typeface="Montserrat"/>
                <a:cs typeface="Montserrat"/>
                <a:sym typeface="Montserrat"/>
              </a:rPr>
              <a:t>sed to pump solution from the reactor so that the reactor doesn’t exceed 450mL.</a:t>
            </a:r>
          </a:p>
        </p:txBody>
      </p:sp>
      <p:grpSp>
        <p:nvGrpSpPr>
          <p:cNvPr name="Group 9" id="9"/>
          <p:cNvGrpSpPr/>
          <p:nvPr/>
        </p:nvGrpSpPr>
        <p:grpSpPr>
          <a:xfrm rot="0">
            <a:off x="16524142" y="9267301"/>
            <a:ext cx="2546038" cy="1273019"/>
            <a:chOff x="0" y="0"/>
            <a:chExt cx="660400" cy="330200"/>
          </a:xfrm>
        </p:grpSpPr>
        <p:sp>
          <p:nvSpPr>
            <p:cNvPr name="Freeform 10" id="10"/>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D9D9D9"/>
            </a:solidFill>
          </p:spPr>
        </p:sp>
        <p:sp>
          <p:nvSpPr>
            <p:cNvPr name="TextBox 11" id="11"/>
            <p:cNvSpPr txBox="true"/>
            <p:nvPr/>
          </p:nvSpPr>
          <p:spPr>
            <a:xfrm>
              <a:off x="127000" y="6350"/>
              <a:ext cx="406400" cy="18415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10800000">
            <a:off x="16524142" y="7994282"/>
            <a:ext cx="2546038" cy="1273019"/>
            <a:chOff x="0" y="0"/>
            <a:chExt cx="660400" cy="330200"/>
          </a:xfrm>
        </p:grpSpPr>
        <p:sp>
          <p:nvSpPr>
            <p:cNvPr name="Freeform 13" id="13"/>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2E8785"/>
            </a:solidFill>
          </p:spPr>
        </p:sp>
        <p:sp>
          <p:nvSpPr>
            <p:cNvPr name="TextBox 14" id="14"/>
            <p:cNvSpPr txBox="true"/>
            <p:nvPr/>
          </p:nvSpPr>
          <p:spPr>
            <a:xfrm>
              <a:off x="127000" y="6350"/>
              <a:ext cx="406400" cy="18415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6578313" y="5168533"/>
            <a:ext cx="2437696" cy="2546038"/>
            <a:chOff x="0" y="0"/>
            <a:chExt cx="571500" cy="596900"/>
          </a:xfrm>
        </p:grpSpPr>
        <p:sp>
          <p:nvSpPr>
            <p:cNvPr name="Freeform 16" id="16"/>
            <p:cNvSpPr/>
            <p:nvPr/>
          </p:nvSpPr>
          <p:spPr>
            <a:xfrm flipH="false" flipV="false" rot="0">
              <a:off x="0" y="0"/>
              <a:ext cx="571500" cy="596900"/>
            </a:xfrm>
            <a:custGeom>
              <a:avLst/>
              <a:gdLst/>
              <a:ahLst/>
              <a:cxnLst/>
              <a:rect r="r" b="b" t="t" l="l"/>
              <a:pathLst>
                <a:path h="596900" w="571500">
                  <a:moveTo>
                    <a:pt x="571500" y="596900"/>
                  </a:moveTo>
                  <a:lnTo>
                    <a:pt x="0" y="596900"/>
                  </a:lnTo>
                  <a:lnTo>
                    <a:pt x="0" y="0"/>
                  </a:lnTo>
                  <a:lnTo>
                    <a:pt x="571500" y="596900"/>
                  </a:lnTo>
                  <a:close/>
                </a:path>
              </a:pathLst>
            </a:custGeom>
            <a:solidFill>
              <a:srgbClr val="F5D77D"/>
            </a:solidFill>
          </p:spPr>
        </p:sp>
        <p:sp>
          <p:nvSpPr>
            <p:cNvPr name="TextBox 17" id="17"/>
            <p:cNvSpPr txBox="true"/>
            <p:nvPr/>
          </p:nvSpPr>
          <p:spPr>
            <a:xfrm>
              <a:off x="0" y="260350"/>
              <a:ext cx="285750" cy="33528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6578313" y="3619289"/>
            <a:ext cx="2546038" cy="1273019"/>
            <a:chOff x="0" y="0"/>
            <a:chExt cx="660400" cy="330200"/>
          </a:xfrm>
        </p:grpSpPr>
        <p:sp>
          <p:nvSpPr>
            <p:cNvPr name="Freeform 19" id="19"/>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D9D9D9"/>
            </a:solidFill>
          </p:spPr>
        </p:sp>
        <p:sp>
          <p:nvSpPr>
            <p:cNvPr name="TextBox 20" id="20"/>
            <p:cNvSpPr txBox="true"/>
            <p:nvPr/>
          </p:nvSpPr>
          <p:spPr>
            <a:xfrm>
              <a:off x="127000" y="6350"/>
              <a:ext cx="406400" cy="18415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10800000">
            <a:off x="16578313" y="2346270"/>
            <a:ext cx="2546038" cy="1273019"/>
            <a:chOff x="0" y="0"/>
            <a:chExt cx="660400" cy="330200"/>
          </a:xfrm>
        </p:grpSpPr>
        <p:sp>
          <p:nvSpPr>
            <p:cNvPr name="Freeform 22" id="22"/>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2E8785"/>
            </a:solidFill>
          </p:spPr>
        </p:sp>
        <p:sp>
          <p:nvSpPr>
            <p:cNvPr name="TextBox 23" id="23"/>
            <p:cNvSpPr txBox="true"/>
            <p:nvPr/>
          </p:nvSpPr>
          <p:spPr>
            <a:xfrm>
              <a:off x="127000" y="6350"/>
              <a:ext cx="406400" cy="18415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6632484" y="-479479"/>
            <a:ext cx="2437696" cy="2546038"/>
            <a:chOff x="0" y="0"/>
            <a:chExt cx="571500" cy="596900"/>
          </a:xfrm>
        </p:grpSpPr>
        <p:sp>
          <p:nvSpPr>
            <p:cNvPr name="Freeform 25" id="25"/>
            <p:cNvSpPr/>
            <p:nvPr/>
          </p:nvSpPr>
          <p:spPr>
            <a:xfrm flipH="false" flipV="false" rot="0">
              <a:off x="0" y="0"/>
              <a:ext cx="571500" cy="596900"/>
            </a:xfrm>
            <a:custGeom>
              <a:avLst/>
              <a:gdLst/>
              <a:ahLst/>
              <a:cxnLst/>
              <a:rect r="r" b="b" t="t" l="l"/>
              <a:pathLst>
                <a:path h="596900" w="571500">
                  <a:moveTo>
                    <a:pt x="571500" y="596900"/>
                  </a:moveTo>
                  <a:lnTo>
                    <a:pt x="0" y="596900"/>
                  </a:lnTo>
                  <a:lnTo>
                    <a:pt x="0" y="0"/>
                  </a:lnTo>
                  <a:lnTo>
                    <a:pt x="571500" y="596900"/>
                  </a:lnTo>
                  <a:close/>
                </a:path>
              </a:pathLst>
            </a:custGeom>
            <a:solidFill>
              <a:srgbClr val="F5D77D"/>
            </a:solidFill>
          </p:spPr>
        </p:sp>
        <p:sp>
          <p:nvSpPr>
            <p:cNvPr name="TextBox 26" id="26"/>
            <p:cNvSpPr txBox="true"/>
            <p:nvPr/>
          </p:nvSpPr>
          <p:spPr>
            <a:xfrm>
              <a:off x="0" y="260350"/>
              <a:ext cx="285750" cy="33528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10800000">
            <a:off x="2926001" y="2410844"/>
            <a:ext cx="2650162" cy="2767947"/>
            <a:chOff x="0" y="0"/>
            <a:chExt cx="571500" cy="596900"/>
          </a:xfrm>
        </p:grpSpPr>
        <p:sp>
          <p:nvSpPr>
            <p:cNvPr name="Freeform 28" id="28"/>
            <p:cNvSpPr/>
            <p:nvPr/>
          </p:nvSpPr>
          <p:spPr>
            <a:xfrm flipH="false" flipV="false" rot="0">
              <a:off x="0" y="0"/>
              <a:ext cx="571500" cy="596900"/>
            </a:xfrm>
            <a:custGeom>
              <a:avLst/>
              <a:gdLst/>
              <a:ahLst/>
              <a:cxnLst/>
              <a:rect r="r" b="b" t="t" l="l"/>
              <a:pathLst>
                <a:path h="596900" w="571500">
                  <a:moveTo>
                    <a:pt x="571500" y="596900"/>
                  </a:moveTo>
                  <a:lnTo>
                    <a:pt x="0" y="596900"/>
                  </a:lnTo>
                  <a:lnTo>
                    <a:pt x="0" y="0"/>
                  </a:lnTo>
                  <a:lnTo>
                    <a:pt x="571500" y="596900"/>
                  </a:lnTo>
                  <a:close/>
                </a:path>
              </a:pathLst>
            </a:custGeom>
            <a:solidFill>
              <a:srgbClr val="F5D77D"/>
            </a:solidFill>
          </p:spPr>
        </p:sp>
        <p:sp>
          <p:nvSpPr>
            <p:cNvPr name="TextBox 29" id="29"/>
            <p:cNvSpPr txBox="true"/>
            <p:nvPr/>
          </p:nvSpPr>
          <p:spPr>
            <a:xfrm>
              <a:off x="0" y="260350"/>
              <a:ext cx="285750" cy="33528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5770484" y="2410844"/>
            <a:ext cx="4833521" cy="5544927"/>
            <a:chOff x="0" y="0"/>
            <a:chExt cx="1273026" cy="1460392"/>
          </a:xfrm>
        </p:grpSpPr>
        <p:sp>
          <p:nvSpPr>
            <p:cNvPr name="Freeform 31" id="31"/>
            <p:cNvSpPr/>
            <p:nvPr/>
          </p:nvSpPr>
          <p:spPr>
            <a:xfrm flipH="false" flipV="false" rot="0">
              <a:off x="0" y="0"/>
              <a:ext cx="1273026" cy="1460392"/>
            </a:xfrm>
            <a:custGeom>
              <a:avLst/>
              <a:gdLst/>
              <a:ahLst/>
              <a:cxnLst/>
              <a:rect r="r" b="b" t="t" l="l"/>
              <a:pathLst>
                <a:path h="1460392" w="1273026">
                  <a:moveTo>
                    <a:pt x="40043" y="0"/>
                  </a:moveTo>
                  <a:lnTo>
                    <a:pt x="1232983" y="0"/>
                  </a:lnTo>
                  <a:cubicBezTo>
                    <a:pt x="1255098" y="0"/>
                    <a:pt x="1273026" y="17928"/>
                    <a:pt x="1273026" y="40043"/>
                  </a:cubicBezTo>
                  <a:lnTo>
                    <a:pt x="1273026" y="1420350"/>
                  </a:lnTo>
                  <a:cubicBezTo>
                    <a:pt x="1273026" y="1442465"/>
                    <a:pt x="1255098" y="1460392"/>
                    <a:pt x="1232983" y="1460392"/>
                  </a:cubicBezTo>
                  <a:lnTo>
                    <a:pt x="40043" y="1460392"/>
                  </a:lnTo>
                  <a:cubicBezTo>
                    <a:pt x="17928" y="1460392"/>
                    <a:pt x="0" y="1442465"/>
                    <a:pt x="0" y="1420350"/>
                  </a:cubicBezTo>
                  <a:lnTo>
                    <a:pt x="0" y="40043"/>
                  </a:lnTo>
                  <a:cubicBezTo>
                    <a:pt x="0" y="17928"/>
                    <a:pt x="17928" y="0"/>
                    <a:pt x="40043" y="0"/>
                  </a:cubicBezTo>
                  <a:close/>
                </a:path>
              </a:pathLst>
            </a:custGeom>
            <a:solidFill>
              <a:srgbClr val="14615B"/>
            </a:solidFill>
          </p:spPr>
        </p:sp>
        <p:sp>
          <p:nvSpPr>
            <p:cNvPr name="TextBox 32" id="32"/>
            <p:cNvSpPr txBox="true"/>
            <p:nvPr/>
          </p:nvSpPr>
          <p:spPr>
            <a:xfrm>
              <a:off x="0" y="-38100"/>
              <a:ext cx="1273026" cy="1498492"/>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10800000">
            <a:off x="7953843" y="2410844"/>
            <a:ext cx="2650162" cy="2767947"/>
            <a:chOff x="0" y="0"/>
            <a:chExt cx="571500" cy="596900"/>
          </a:xfrm>
        </p:grpSpPr>
        <p:sp>
          <p:nvSpPr>
            <p:cNvPr name="Freeform 34" id="34"/>
            <p:cNvSpPr/>
            <p:nvPr/>
          </p:nvSpPr>
          <p:spPr>
            <a:xfrm flipH="false" flipV="false" rot="0">
              <a:off x="0" y="0"/>
              <a:ext cx="571500" cy="596900"/>
            </a:xfrm>
            <a:custGeom>
              <a:avLst/>
              <a:gdLst/>
              <a:ahLst/>
              <a:cxnLst/>
              <a:rect r="r" b="b" t="t" l="l"/>
              <a:pathLst>
                <a:path h="596900" w="571500">
                  <a:moveTo>
                    <a:pt x="571500" y="596900"/>
                  </a:moveTo>
                  <a:lnTo>
                    <a:pt x="0" y="596900"/>
                  </a:lnTo>
                  <a:lnTo>
                    <a:pt x="0" y="0"/>
                  </a:lnTo>
                  <a:lnTo>
                    <a:pt x="571500" y="596900"/>
                  </a:lnTo>
                  <a:close/>
                </a:path>
              </a:pathLst>
            </a:custGeom>
            <a:solidFill>
              <a:srgbClr val="F5D77D"/>
            </a:solidFill>
          </p:spPr>
        </p:sp>
        <p:sp>
          <p:nvSpPr>
            <p:cNvPr name="TextBox 35" id="35"/>
            <p:cNvSpPr txBox="true"/>
            <p:nvPr/>
          </p:nvSpPr>
          <p:spPr>
            <a:xfrm>
              <a:off x="0" y="260350"/>
              <a:ext cx="285750" cy="33528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10794505" y="2406328"/>
            <a:ext cx="4833521" cy="5544927"/>
            <a:chOff x="0" y="0"/>
            <a:chExt cx="1273026" cy="1460392"/>
          </a:xfrm>
        </p:grpSpPr>
        <p:sp>
          <p:nvSpPr>
            <p:cNvPr name="Freeform 37" id="37"/>
            <p:cNvSpPr/>
            <p:nvPr/>
          </p:nvSpPr>
          <p:spPr>
            <a:xfrm flipH="false" flipV="false" rot="0">
              <a:off x="0" y="0"/>
              <a:ext cx="1273026" cy="1460392"/>
            </a:xfrm>
            <a:custGeom>
              <a:avLst/>
              <a:gdLst/>
              <a:ahLst/>
              <a:cxnLst/>
              <a:rect r="r" b="b" t="t" l="l"/>
              <a:pathLst>
                <a:path h="1460392" w="1273026">
                  <a:moveTo>
                    <a:pt x="40043" y="0"/>
                  </a:moveTo>
                  <a:lnTo>
                    <a:pt x="1232983" y="0"/>
                  </a:lnTo>
                  <a:cubicBezTo>
                    <a:pt x="1255098" y="0"/>
                    <a:pt x="1273026" y="17928"/>
                    <a:pt x="1273026" y="40043"/>
                  </a:cubicBezTo>
                  <a:lnTo>
                    <a:pt x="1273026" y="1420350"/>
                  </a:lnTo>
                  <a:cubicBezTo>
                    <a:pt x="1273026" y="1442465"/>
                    <a:pt x="1255098" y="1460392"/>
                    <a:pt x="1232983" y="1460392"/>
                  </a:cubicBezTo>
                  <a:lnTo>
                    <a:pt x="40043" y="1460392"/>
                  </a:lnTo>
                  <a:cubicBezTo>
                    <a:pt x="17928" y="1460392"/>
                    <a:pt x="0" y="1442465"/>
                    <a:pt x="0" y="1420350"/>
                  </a:cubicBezTo>
                  <a:lnTo>
                    <a:pt x="0" y="40043"/>
                  </a:lnTo>
                  <a:cubicBezTo>
                    <a:pt x="0" y="17928"/>
                    <a:pt x="17928" y="0"/>
                    <a:pt x="40043" y="0"/>
                  </a:cubicBezTo>
                  <a:close/>
                </a:path>
              </a:pathLst>
            </a:custGeom>
            <a:solidFill>
              <a:srgbClr val="14615B"/>
            </a:solidFill>
          </p:spPr>
        </p:sp>
        <p:sp>
          <p:nvSpPr>
            <p:cNvPr name="TextBox 38" id="38"/>
            <p:cNvSpPr txBox="true"/>
            <p:nvPr/>
          </p:nvSpPr>
          <p:spPr>
            <a:xfrm>
              <a:off x="0" y="-38100"/>
              <a:ext cx="1273026" cy="1498492"/>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10800000">
            <a:off x="12994780" y="2410844"/>
            <a:ext cx="2650162" cy="2767947"/>
            <a:chOff x="0" y="0"/>
            <a:chExt cx="571500" cy="596900"/>
          </a:xfrm>
        </p:grpSpPr>
        <p:sp>
          <p:nvSpPr>
            <p:cNvPr name="Freeform 40" id="40"/>
            <p:cNvSpPr/>
            <p:nvPr/>
          </p:nvSpPr>
          <p:spPr>
            <a:xfrm flipH="false" flipV="false" rot="0">
              <a:off x="0" y="0"/>
              <a:ext cx="571500" cy="596900"/>
            </a:xfrm>
            <a:custGeom>
              <a:avLst/>
              <a:gdLst/>
              <a:ahLst/>
              <a:cxnLst/>
              <a:rect r="r" b="b" t="t" l="l"/>
              <a:pathLst>
                <a:path h="596900" w="571500">
                  <a:moveTo>
                    <a:pt x="571500" y="596900"/>
                  </a:moveTo>
                  <a:lnTo>
                    <a:pt x="0" y="596900"/>
                  </a:lnTo>
                  <a:lnTo>
                    <a:pt x="0" y="0"/>
                  </a:lnTo>
                  <a:lnTo>
                    <a:pt x="571500" y="596900"/>
                  </a:lnTo>
                  <a:close/>
                </a:path>
              </a:pathLst>
            </a:custGeom>
            <a:solidFill>
              <a:srgbClr val="F5D77D"/>
            </a:solidFill>
          </p:spPr>
        </p:sp>
        <p:sp>
          <p:nvSpPr>
            <p:cNvPr name="TextBox 41" id="41"/>
            <p:cNvSpPr txBox="true"/>
            <p:nvPr/>
          </p:nvSpPr>
          <p:spPr>
            <a:xfrm>
              <a:off x="0" y="260350"/>
              <a:ext cx="285750" cy="335280"/>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10800000">
            <a:off x="14711180" y="8174847"/>
            <a:ext cx="933762" cy="1193321"/>
            <a:chOff x="0" y="0"/>
            <a:chExt cx="201363" cy="257336"/>
          </a:xfrm>
        </p:grpSpPr>
        <p:sp>
          <p:nvSpPr>
            <p:cNvPr name="Freeform 43" id="43"/>
            <p:cNvSpPr/>
            <p:nvPr/>
          </p:nvSpPr>
          <p:spPr>
            <a:xfrm flipH="false" flipV="false" rot="0">
              <a:off x="0" y="0"/>
              <a:ext cx="201363" cy="257336"/>
            </a:xfrm>
            <a:custGeom>
              <a:avLst/>
              <a:gdLst/>
              <a:ahLst/>
              <a:cxnLst/>
              <a:rect r="r" b="b" t="t" l="l"/>
              <a:pathLst>
                <a:path h="257336" w="201363">
                  <a:moveTo>
                    <a:pt x="201363" y="257336"/>
                  </a:moveTo>
                  <a:lnTo>
                    <a:pt x="0" y="257336"/>
                  </a:lnTo>
                  <a:lnTo>
                    <a:pt x="0" y="0"/>
                  </a:lnTo>
                  <a:lnTo>
                    <a:pt x="201363" y="257336"/>
                  </a:lnTo>
                  <a:close/>
                </a:path>
              </a:pathLst>
            </a:custGeom>
            <a:solidFill>
              <a:srgbClr val="F5D77D"/>
            </a:solidFill>
          </p:spPr>
        </p:sp>
        <p:sp>
          <p:nvSpPr>
            <p:cNvPr name="TextBox 44" id="44"/>
            <p:cNvSpPr txBox="true"/>
            <p:nvPr/>
          </p:nvSpPr>
          <p:spPr>
            <a:xfrm>
              <a:off x="0" y="90568"/>
              <a:ext cx="100682" cy="166221"/>
            </a:xfrm>
            <a:prstGeom prst="rect">
              <a:avLst/>
            </a:prstGeom>
          </p:spPr>
          <p:txBody>
            <a:bodyPr anchor="ctr" rtlCol="false" tIns="50800" lIns="50800" bIns="50800" rIns="50800"/>
            <a:lstStyle/>
            <a:p>
              <a:pPr algn="ctr">
                <a:lnSpc>
                  <a:spcPts val="2659"/>
                </a:lnSpc>
              </a:pPr>
            </a:p>
          </p:txBody>
        </p:sp>
      </p:grpSp>
      <p:sp>
        <p:nvSpPr>
          <p:cNvPr name="TextBox 45" id="45"/>
          <p:cNvSpPr txBox="true"/>
          <p:nvPr/>
        </p:nvSpPr>
        <p:spPr>
          <a:xfrm rot="0">
            <a:off x="726647" y="882807"/>
            <a:ext cx="11213261" cy="825881"/>
          </a:xfrm>
          <a:prstGeom prst="rect">
            <a:avLst/>
          </a:prstGeom>
        </p:spPr>
        <p:txBody>
          <a:bodyPr anchor="t" rtlCol="false" tIns="0" lIns="0" bIns="0" rIns="0">
            <a:spAutoFit/>
          </a:bodyPr>
          <a:lstStyle/>
          <a:p>
            <a:pPr algn="l">
              <a:lnSpc>
                <a:spcPts val="6262"/>
              </a:lnSpc>
            </a:pPr>
            <a:r>
              <a:rPr lang="en-US" sz="6200" b="true">
                <a:solidFill>
                  <a:srgbClr val="14615B"/>
                </a:solidFill>
                <a:latin typeface="Aileron Bold"/>
                <a:ea typeface="Aileron Bold"/>
                <a:cs typeface="Aileron Bold"/>
                <a:sym typeface="Aileron Bold"/>
              </a:rPr>
              <a:t>Control Rod Simulator</a:t>
            </a:r>
          </a:p>
        </p:txBody>
      </p:sp>
      <p:sp>
        <p:nvSpPr>
          <p:cNvPr name="TextBox 46" id="46"/>
          <p:cNvSpPr txBox="true"/>
          <p:nvPr/>
        </p:nvSpPr>
        <p:spPr>
          <a:xfrm rot="0">
            <a:off x="1067624" y="2428176"/>
            <a:ext cx="1909289" cy="1307295"/>
          </a:xfrm>
          <a:prstGeom prst="rect">
            <a:avLst/>
          </a:prstGeom>
        </p:spPr>
        <p:txBody>
          <a:bodyPr anchor="t" rtlCol="false" tIns="0" lIns="0" bIns="0" rIns="0">
            <a:spAutoFit/>
          </a:bodyPr>
          <a:lstStyle/>
          <a:p>
            <a:pPr algn="l">
              <a:lnSpc>
                <a:spcPts val="10717"/>
              </a:lnSpc>
            </a:pPr>
            <a:r>
              <a:rPr lang="en-US" sz="7655">
                <a:solidFill>
                  <a:srgbClr val="F5D77D"/>
                </a:solidFill>
                <a:latin typeface="Montserrat"/>
                <a:ea typeface="Montserrat"/>
                <a:cs typeface="Montserrat"/>
                <a:sym typeface="Montserrat"/>
              </a:rPr>
              <a:t>01</a:t>
            </a:r>
          </a:p>
        </p:txBody>
      </p:sp>
      <p:sp>
        <p:nvSpPr>
          <p:cNvPr name="TextBox 47" id="47"/>
          <p:cNvSpPr txBox="true"/>
          <p:nvPr/>
        </p:nvSpPr>
        <p:spPr>
          <a:xfrm rot="0">
            <a:off x="6229042" y="2428176"/>
            <a:ext cx="1909289" cy="1307295"/>
          </a:xfrm>
          <a:prstGeom prst="rect">
            <a:avLst/>
          </a:prstGeom>
        </p:spPr>
        <p:txBody>
          <a:bodyPr anchor="t" rtlCol="false" tIns="0" lIns="0" bIns="0" rIns="0">
            <a:spAutoFit/>
          </a:bodyPr>
          <a:lstStyle/>
          <a:p>
            <a:pPr algn="l">
              <a:lnSpc>
                <a:spcPts val="10717"/>
              </a:lnSpc>
            </a:pPr>
            <a:r>
              <a:rPr lang="en-US" sz="7655">
                <a:solidFill>
                  <a:srgbClr val="F5D77D"/>
                </a:solidFill>
                <a:latin typeface="Montserrat"/>
                <a:ea typeface="Montserrat"/>
                <a:cs typeface="Montserrat"/>
                <a:sym typeface="Montserrat"/>
              </a:rPr>
              <a:t>02</a:t>
            </a:r>
          </a:p>
        </p:txBody>
      </p:sp>
      <p:sp>
        <p:nvSpPr>
          <p:cNvPr name="TextBox 48" id="48"/>
          <p:cNvSpPr txBox="true"/>
          <p:nvPr/>
        </p:nvSpPr>
        <p:spPr>
          <a:xfrm rot="0">
            <a:off x="11251278" y="2428176"/>
            <a:ext cx="1909289" cy="1307295"/>
          </a:xfrm>
          <a:prstGeom prst="rect">
            <a:avLst/>
          </a:prstGeom>
        </p:spPr>
        <p:txBody>
          <a:bodyPr anchor="t" rtlCol="false" tIns="0" lIns="0" bIns="0" rIns="0">
            <a:spAutoFit/>
          </a:bodyPr>
          <a:lstStyle/>
          <a:p>
            <a:pPr algn="l">
              <a:lnSpc>
                <a:spcPts val="10717"/>
              </a:lnSpc>
            </a:pPr>
            <a:r>
              <a:rPr lang="en-US" sz="7655">
                <a:solidFill>
                  <a:srgbClr val="F5D77D"/>
                </a:solidFill>
                <a:latin typeface="Montserrat"/>
                <a:ea typeface="Montserrat"/>
                <a:cs typeface="Montserrat"/>
                <a:sym typeface="Montserrat"/>
              </a:rPr>
              <a:t>03</a:t>
            </a:r>
          </a:p>
        </p:txBody>
      </p:sp>
      <p:sp>
        <p:nvSpPr>
          <p:cNvPr name="TextBox 49" id="49"/>
          <p:cNvSpPr txBox="true"/>
          <p:nvPr/>
        </p:nvSpPr>
        <p:spPr>
          <a:xfrm rot="0">
            <a:off x="11051514" y="5163949"/>
            <a:ext cx="4218104" cy="1544320"/>
          </a:xfrm>
          <a:prstGeom prst="rect">
            <a:avLst/>
          </a:prstGeom>
        </p:spPr>
        <p:txBody>
          <a:bodyPr anchor="t" rtlCol="false" tIns="0" lIns="0" bIns="0" rIns="0">
            <a:spAutoFit/>
          </a:bodyPr>
          <a:lstStyle/>
          <a:p>
            <a:pPr algn="l" marL="474981" indent="-237491" lvl="1">
              <a:lnSpc>
                <a:spcPts val="3080"/>
              </a:lnSpc>
              <a:buFont typeface="Arial"/>
              <a:buChar char="•"/>
            </a:pPr>
            <a:r>
              <a:rPr lang="en-US" sz="2200">
                <a:solidFill>
                  <a:srgbClr val="FFFFFF"/>
                </a:solidFill>
                <a:latin typeface="Montserrat"/>
                <a:ea typeface="Montserrat"/>
                <a:cs typeface="Montserrat"/>
                <a:sym typeface="Montserrat"/>
              </a:rPr>
              <a:t>Green Dye simulates boron in control rods</a:t>
            </a:r>
          </a:p>
          <a:p>
            <a:pPr algn="l" marL="474981" indent="-237491" lvl="1">
              <a:lnSpc>
                <a:spcPts val="3080"/>
              </a:lnSpc>
              <a:buFont typeface="Arial"/>
              <a:buChar char="•"/>
            </a:pPr>
            <a:r>
              <a:rPr lang="en-US" sz="2200">
                <a:solidFill>
                  <a:srgbClr val="FFFFFF"/>
                </a:solidFill>
                <a:latin typeface="Montserrat"/>
                <a:ea typeface="Montserrat"/>
                <a:cs typeface="Montserrat"/>
                <a:sym typeface="Montserrat"/>
              </a:rPr>
              <a:t>Managing rate of reaction</a:t>
            </a:r>
          </a:p>
          <a:p>
            <a:pPr algn="l" marL="474981" indent="-237491" lvl="1">
              <a:lnSpc>
                <a:spcPts val="3080"/>
              </a:lnSpc>
              <a:buFont typeface="Arial"/>
              <a:buChar char="•"/>
            </a:pPr>
            <a:r>
              <a:rPr lang="en-US" sz="2200">
                <a:solidFill>
                  <a:srgbClr val="FFFFFF"/>
                </a:solidFill>
                <a:latin typeface="Montserrat"/>
                <a:ea typeface="Montserrat"/>
                <a:cs typeface="Montserrat"/>
                <a:sym typeface="Montserrat"/>
              </a:rPr>
              <a:t>Highly concentrated</a:t>
            </a:r>
          </a:p>
        </p:txBody>
      </p:sp>
      <p:sp>
        <p:nvSpPr>
          <p:cNvPr name="TextBox 50" id="50"/>
          <p:cNvSpPr txBox="true"/>
          <p:nvPr/>
        </p:nvSpPr>
        <p:spPr>
          <a:xfrm rot="0">
            <a:off x="-683637" y="3575001"/>
            <a:ext cx="5828513" cy="712470"/>
          </a:xfrm>
          <a:prstGeom prst="rect">
            <a:avLst/>
          </a:prstGeom>
        </p:spPr>
        <p:txBody>
          <a:bodyPr anchor="t" rtlCol="false" tIns="0" lIns="0" bIns="0" rIns="0">
            <a:spAutoFit/>
          </a:bodyPr>
          <a:lstStyle/>
          <a:p>
            <a:pPr algn="ctr">
              <a:lnSpc>
                <a:spcPts val="5880"/>
              </a:lnSpc>
              <a:spcBef>
                <a:spcPct val="0"/>
              </a:spcBef>
            </a:pPr>
            <a:r>
              <a:rPr lang="en-US" sz="4200">
                <a:solidFill>
                  <a:srgbClr val="F5D77D"/>
                </a:solidFill>
                <a:latin typeface="Canva Sans"/>
                <a:ea typeface="Canva Sans"/>
                <a:cs typeface="Canva Sans"/>
                <a:sym typeface="Canva Sans"/>
              </a:rPr>
              <a:t>Reactor </a:t>
            </a:r>
          </a:p>
        </p:txBody>
      </p:sp>
      <p:sp>
        <p:nvSpPr>
          <p:cNvPr name="TextBox 51" id="51"/>
          <p:cNvSpPr txBox="true"/>
          <p:nvPr/>
        </p:nvSpPr>
        <p:spPr>
          <a:xfrm rot="0">
            <a:off x="6229042" y="3575001"/>
            <a:ext cx="5708484" cy="1455420"/>
          </a:xfrm>
          <a:prstGeom prst="rect">
            <a:avLst/>
          </a:prstGeom>
        </p:spPr>
        <p:txBody>
          <a:bodyPr anchor="t" rtlCol="false" tIns="0" lIns="0" bIns="0" rIns="0">
            <a:spAutoFit/>
          </a:bodyPr>
          <a:lstStyle/>
          <a:p>
            <a:pPr algn="l">
              <a:lnSpc>
                <a:spcPts val="5880"/>
              </a:lnSpc>
            </a:pPr>
            <a:r>
              <a:rPr lang="en-US" sz="4200">
                <a:solidFill>
                  <a:srgbClr val="F5D77D"/>
                </a:solidFill>
                <a:latin typeface="Canva Sans"/>
                <a:ea typeface="Canva Sans"/>
                <a:cs typeface="Canva Sans"/>
                <a:sym typeface="Canva Sans"/>
              </a:rPr>
              <a:t>Clear </a:t>
            </a:r>
          </a:p>
          <a:p>
            <a:pPr algn="just">
              <a:lnSpc>
                <a:spcPts val="5880"/>
              </a:lnSpc>
              <a:spcBef>
                <a:spcPct val="0"/>
              </a:spcBef>
            </a:pPr>
            <a:r>
              <a:rPr lang="en-US" sz="4200">
                <a:solidFill>
                  <a:srgbClr val="F5D77D"/>
                </a:solidFill>
                <a:latin typeface="Canva Sans"/>
                <a:ea typeface="Canva Sans"/>
                <a:cs typeface="Canva Sans"/>
                <a:sym typeface="Canva Sans"/>
              </a:rPr>
              <a:t>S</a:t>
            </a:r>
            <a:r>
              <a:rPr lang="en-US" sz="4200">
                <a:solidFill>
                  <a:srgbClr val="F5D77D"/>
                </a:solidFill>
                <a:latin typeface="Canva Sans"/>
                <a:ea typeface="Canva Sans"/>
                <a:cs typeface="Canva Sans"/>
                <a:sym typeface="Canva Sans"/>
              </a:rPr>
              <a:t>olution</a:t>
            </a:r>
          </a:p>
        </p:txBody>
      </p:sp>
      <p:sp>
        <p:nvSpPr>
          <p:cNvPr name="TextBox 52" id="52"/>
          <p:cNvSpPr txBox="true"/>
          <p:nvPr/>
        </p:nvSpPr>
        <p:spPr>
          <a:xfrm rot="0">
            <a:off x="11232655" y="3575001"/>
            <a:ext cx="4548537" cy="1455420"/>
          </a:xfrm>
          <a:prstGeom prst="rect">
            <a:avLst/>
          </a:prstGeom>
        </p:spPr>
        <p:txBody>
          <a:bodyPr anchor="t" rtlCol="false" tIns="0" lIns="0" bIns="0" rIns="0">
            <a:spAutoFit/>
          </a:bodyPr>
          <a:lstStyle/>
          <a:p>
            <a:pPr algn="l">
              <a:lnSpc>
                <a:spcPts val="5880"/>
              </a:lnSpc>
            </a:pPr>
            <a:r>
              <a:rPr lang="en-US" sz="4200">
                <a:solidFill>
                  <a:srgbClr val="F5D77D"/>
                </a:solidFill>
                <a:latin typeface="Canva Sans"/>
                <a:ea typeface="Canva Sans"/>
                <a:cs typeface="Canva Sans"/>
                <a:sym typeface="Canva Sans"/>
              </a:rPr>
              <a:t>Dyed </a:t>
            </a:r>
          </a:p>
          <a:p>
            <a:pPr algn="l">
              <a:lnSpc>
                <a:spcPts val="5880"/>
              </a:lnSpc>
              <a:spcBef>
                <a:spcPct val="0"/>
              </a:spcBef>
            </a:pPr>
            <a:r>
              <a:rPr lang="en-US" sz="4200">
                <a:solidFill>
                  <a:srgbClr val="F5D77D"/>
                </a:solidFill>
                <a:latin typeface="Canva Sans"/>
                <a:ea typeface="Canva Sans"/>
                <a:cs typeface="Canva Sans"/>
                <a:sym typeface="Canva Sans"/>
              </a:rPr>
              <a:t>solution</a:t>
            </a:r>
          </a:p>
        </p:txBody>
      </p:sp>
      <p:sp>
        <p:nvSpPr>
          <p:cNvPr name="TextBox 53" id="53"/>
          <p:cNvSpPr txBox="true"/>
          <p:nvPr/>
        </p:nvSpPr>
        <p:spPr>
          <a:xfrm rot="0">
            <a:off x="5991464" y="5163949"/>
            <a:ext cx="4371745" cy="1544320"/>
          </a:xfrm>
          <a:prstGeom prst="rect">
            <a:avLst/>
          </a:prstGeom>
        </p:spPr>
        <p:txBody>
          <a:bodyPr anchor="t" rtlCol="false" tIns="0" lIns="0" bIns="0" rIns="0">
            <a:spAutoFit/>
          </a:bodyPr>
          <a:lstStyle/>
          <a:p>
            <a:pPr algn="l" marL="474981" indent="-237491" lvl="1">
              <a:lnSpc>
                <a:spcPts val="3080"/>
              </a:lnSpc>
              <a:buFont typeface="Arial"/>
              <a:buChar char="•"/>
            </a:pPr>
            <a:r>
              <a:rPr lang="en-US" sz="2200">
                <a:solidFill>
                  <a:srgbClr val="FFFFFF"/>
                </a:solidFill>
                <a:latin typeface="Montserrat"/>
                <a:ea typeface="Montserrat"/>
                <a:cs typeface="Montserrat"/>
                <a:sym typeface="Montserrat"/>
              </a:rPr>
              <a:t>No dye here is added.</a:t>
            </a:r>
          </a:p>
          <a:p>
            <a:pPr algn="l" marL="474981" indent="-237491" lvl="1">
              <a:lnSpc>
                <a:spcPts val="3080"/>
              </a:lnSpc>
              <a:buFont typeface="Arial"/>
              <a:buChar char="•"/>
            </a:pPr>
            <a:r>
              <a:rPr lang="en-US" sz="2200">
                <a:solidFill>
                  <a:srgbClr val="FFFFFF"/>
                </a:solidFill>
                <a:latin typeface="Montserrat"/>
                <a:ea typeface="Montserrat"/>
                <a:cs typeface="Montserrat"/>
                <a:sym typeface="Montserrat"/>
              </a:rPr>
              <a:t>Feeds to reactor to dilute concentration when it’s too high</a:t>
            </a:r>
          </a:p>
        </p:txBody>
      </p:sp>
      <p:sp>
        <p:nvSpPr>
          <p:cNvPr name="TextBox 54" id="54"/>
          <p:cNvSpPr txBox="true"/>
          <p:nvPr/>
        </p:nvSpPr>
        <p:spPr>
          <a:xfrm rot="0">
            <a:off x="938286" y="5163949"/>
            <a:ext cx="4077253" cy="2325370"/>
          </a:xfrm>
          <a:prstGeom prst="rect">
            <a:avLst/>
          </a:prstGeom>
        </p:spPr>
        <p:txBody>
          <a:bodyPr anchor="t" rtlCol="false" tIns="0" lIns="0" bIns="0" rIns="0">
            <a:spAutoFit/>
          </a:bodyPr>
          <a:lstStyle/>
          <a:p>
            <a:pPr algn="l" marL="474981" indent="-237491" lvl="1">
              <a:lnSpc>
                <a:spcPts val="3080"/>
              </a:lnSpc>
              <a:buFont typeface="Arial"/>
              <a:buChar char="•"/>
            </a:pPr>
            <a:r>
              <a:rPr lang="en-US" sz="2200">
                <a:solidFill>
                  <a:srgbClr val="FFFFFF"/>
                </a:solidFill>
                <a:latin typeface="Montserrat"/>
                <a:ea typeface="Montserrat"/>
                <a:cs typeface="Montserrat"/>
                <a:sym typeface="Montserrat"/>
              </a:rPr>
              <a:t>Starts as a clear solution</a:t>
            </a:r>
          </a:p>
          <a:p>
            <a:pPr algn="l" marL="474981" indent="-237491" lvl="1">
              <a:lnSpc>
                <a:spcPts val="3080"/>
              </a:lnSpc>
              <a:buFont typeface="Arial"/>
              <a:buChar char="•"/>
            </a:pPr>
            <a:r>
              <a:rPr lang="en-US" sz="2200">
                <a:solidFill>
                  <a:srgbClr val="FFFFFF"/>
                </a:solidFill>
                <a:latin typeface="Montserrat"/>
                <a:ea typeface="Montserrat"/>
                <a:cs typeface="Montserrat"/>
                <a:sym typeface="Montserrat"/>
              </a:rPr>
              <a:t>Dyed solution slowly feeded in until ideal concentration</a:t>
            </a:r>
          </a:p>
          <a:p>
            <a:pPr algn="l" marL="474981" indent="-237491" lvl="1">
              <a:lnSpc>
                <a:spcPts val="3080"/>
              </a:lnSpc>
              <a:buFont typeface="Arial"/>
              <a:buChar char="•"/>
            </a:pPr>
            <a:r>
              <a:rPr lang="en-US" sz="2200">
                <a:solidFill>
                  <a:srgbClr val="FFFFFF"/>
                </a:solidFill>
                <a:latin typeface="Montserrat"/>
                <a:ea typeface="Montserrat"/>
                <a:cs typeface="Montserrat"/>
                <a:sym typeface="Montserrat"/>
              </a:rPr>
              <a:t>Scram if no dye for too long</a:t>
            </a:r>
          </a:p>
        </p:txBody>
      </p:sp>
      <p:sp>
        <p:nvSpPr>
          <p:cNvPr name="TextBox 55" id="55"/>
          <p:cNvSpPr txBox="true"/>
          <p:nvPr/>
        </p:nvSpPr>
        <p:spPr>
          <a:xfrm rot="0">
            <a:off x="2450595" y="8529663"/>
            <a:ext cx="3665384" cy="712470"/>
          </a:xfrm>
          <a:prstGeom prst="rect">
            <a:avLst/>
          </a:prstGeom>
        </p:spPr>
        <p:txBody>
          <a:bodyPr anchor="t" rtlCol="false" tIns="0" lIns="0" bIns="0" rIns="0">
            <a:spAutoFit/>
          </a:bodyPr>
          <a:lstStyle/>
          <a:p>
            <a:pPr algn="l">
              <a:lnSpc>
                <a:spcPts val="5880"/>
              </a:lnSpc>
              <a:spcBef>
                <a:spcPct val="0"/>
              </a:spcBef>
            </a:pPr>
            <a:r>
              <a:rPr lang="en-US" sz="4200">
                <a:solidFill>
                  <a:srgbClr val="F5D77D"/>
                </a:solidFill>
                <a:latin typeface="Canva Sans"/>
                <a:ea typeface="Canva Sans"/>
                <a:cs typeface="Canva Sans"/>
                <a:sym typeface="Canva Sans"/>
              </a:rPr>
              <a:t>Waste Beaker</a:t>
            </a:r>
          </a:p>
        </p:txBody>
      </p:sp>
      <p:sp>
        <p:nvSpPr>
          <p:cNvPr name="TextBox 56" id="56"/>
          <p:cNvSpPr txBox="true"/>
          <p:nvPr/>
        </p:nvSpPr>
        <p:spPr>
          <a:xfrm rot="0">
            <a:off x="928574" y="8152538"/>
            <a:ext cx="1909289" cy="1307295"/>
          </a:xfrm>
          <a:prstGeom prst="rect">
            <a:avLst/>
          </a:prstGeom>
        </p:spPr>
        <p:txBody>
          <a:bodyPr anchor="t" rtlCol="false" tIns="0" lIns="0" bIns="0" rIns="0">
            <a:spAutoFit/>
          </a:bodyPr>
          <a:lstStyle/>
          <a:p>
            <a:pPr algn="l">
              <a:lnSpc>
                <a:spcPts val="10717"/>
              </a:lnSpc>
            </a:pPr>
            <a:r>
              <a:rPr lang="en-US" sz="7655">
                <a:solidFill>
                  <a:srgbClr val="F5D77D"/>
                </a:solidFill>
                <a:latin typeface="Montserrat"/>
                <a:ea typeface="Montserrat"/>
                <a:cs typeface="Montserrat"/>
                <a:sym typeface="Montserrat"/>
              </a:rPr>
              <a:t>04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8881776"/>
            <a:ext cx="19706927" cy="1919574"/>
            <a:chOff x="0" y="0"/>
            <a:chExt cx="5190302" cy="505567"/>
          </a:xfrm>
        </p:grpSpPr>
        <p:sp>
          <p:nvSpPr>
            <p:cNvPr name="Freeform 3" id="3"/>
            <p:cNvSpPr/>
            <p:nvPr/>
          </p:nvSpPr>
          <p:spPr>
            <a:xfrm flipH="false" flipV="false" rot="0">
              <a:off x="0" y="0"/>
              <a:ext cx="5190302" cy="505567"/>
            </a:xfrm>
            <a:custGeom>
              <a:avLst/>
              <a:gdLst/>
              <a:ahLst/>
              <a:cxnLst/>
              <a:rect r="r" b="b" t="t" l="l"/>
              <a:pathLst>
                <a:path h="505567" w="5190302">
                  <a:moveTo>
                    <a:pt x="0" y="0"/>
                  </a:moveTo>
                  <a:lnTo>
                    <a:pt x="5190302" y="0"/>
                  </a:lnTo>
                  <a:lnTo>
                    <a:pt x="5190302" y="505567"/>
                  </a:lnTo>
                  <a:lnTo>
                    <a:pt x="0" y="505567"/>
                  </a:lnTo>
                  <a:close/>
                </a:path>
              </a:pathLst>
            </a:custGeom>
            <a:solidFill>
              <a:srgbClr val="2E8785"/>
            </a:solidFill>
          </p:spPr>
        </p:sp>
        <p:sp>
          <p:nvSpPr>
            <p:cNvPr name="TextBox 4" id="4"/>
            <p:cNvSpPr txBox="true"/>
            <p:nvPr/>
          </p:nvSpPr>
          <p:spPr>
            <a:xfrm>
              <a:off x="0" y="-38100"/>
              <a:ext cx="5190302" cy="543667"/>
            </a:xfrm>
            <a:prstGeom prst="rect">
              <a:avLst/>
            </a:prstGeom>
          </p:spPr>
          <p:txBody>
            <a:bodyPr anchor="ctr" rtlCol="false" tIns="50800" lIns="50800" bIns="50800" rIns="50800"/>
            <a:lstStyle/>
            <a:p>
              <a:pPr algn="ctr">
                <a:lnSpc>
                  <a:spcPts val="3080"/>
                </a:lnSpc>
              </a:pPr>
            </a:p>
          </p:txBody>
        </p:sp>
      </p:grpSp>
      <p:grpSp>
        <p:nvGrpSpPr>
          <p:cNvPr name="Group 5" id="5"/>
          <p:cNvGrpSpPr/>
          <p:nvPr/>
        </p:nvGrpSpPr>
        <p:grpSpPr>
          <a:xfrm rot="0">
            <a:off x="11055265" y="3555215"/>
            <a:ext cx="6737425" cy="3176571"/>
            <a:chOff x="0" y="0"/>
            <a:chExt cx="1774466" cy="836628"/>
          </a:xfrm>
        </p:grpSpPr>
        <p:sp>
          <p:nvSpPr>
            <p:cNvPr name="Freeform 6" id="6"/>
            <p:cNvSpPr/>
            <p:nvPr/>
          </p:nvSpPr>
          <p:spPr>
            <a:xfrm flipH="false" flipV="false" rot="0">
              <a:off x="0" y="0"/>
              <a:ext cx="1774466" cy="836628"/>
            </a:xfrm>
            <a:custGeom>
              <a:avLst/>
              <a:gdLst/>
              <a:ahLst/>
              <a:cxnLst/>
              <a:rect r="r" b="b" t="t" l="l"/>
              <a:pathLst>
                <a:path h="836628" w="1774466">
                  <a:moveTo>
                    <a:pt x="33324" y="0"/>
                  </a:moveTo>
                  <a:lnTo>
                    <a:pt x="1741142" y="0"/>
                  </a:lnTo>
                  <a:cubicBezTo>
                    <a:pt x="1759546" y="0"/>
                    <a:pt x="1774466" y="14920"/>
                    <a:pt x="1774466" y="33324"/>
                  </a:cubicBezTo>
                  <a:lnTo>
                    <a:pt x="1774466" y="803304"/>
                  </a:lnTo>
                  <a:cubicBezTo>
                    <a:pt x="1774466" y="812142"/>
                    <a:pt x="1770955" y="820618"/>
                    <a:pt x="1764706" y="826867"/>
                  </a:cubicBezTo>
                  <a:cubicBezTo>
                    <a:pt x="1758456" y="833117"/>
                    <a:pt x="1749980" y="836628"/>
                    <a:pt x="1741142" y="836628"/>
                  </a:cubicBezTo>
                  <a:lnTo>
                    <a:pt x="33324" y="836628"/>
                  </a:lnTo>
                  <a:cubicBezTo>
                    <a:pt x="24486" y="836628"/>
                    <a:pt x="16010" y="833117"/>
                    <a:pt x="9760" y="826867"/>
                  </a:cubicBezTo>
                  <a:cubicBezTo>
                    <a:pt x="3511" y="820618"/>
                    <a:pt x="0" y="812142"/>
                    <a:pt x="0" y="803304"/>
                  </a:cubicBezTo>
                  <a:lnTo>
                    <a:pt x="0" y="33324"/>
                  </a:lnTo>
                  <a:cubicBezTo>
                    <a:pt x="0" y="24486"/>
                    <a:pt x="3511" y="16010"/>
                    <a:pt x="9760" y="9760"/>
                  </a:cubicBezTo>
                  <a:cubicBezTo>
                    <a:pt x="16010" y="3511"/>
                    <a:pt x="24486" y="0"/>
                    <a:pt x="33324" y="0"/>
                  </a:cubicBezTo>
                  <a:close/>
                </a:path>
              </a:pathLst>
            </a:custGeom>
            <a:solidFill>
              <a:srgbClr val="14615B"/>
            </a:solidFill>
          </p:spPr>
        </p:sp>
        <p:sp>
          <p:nvSpPr>
            <p:cNvPr name="TextBox 7" id="7"/>
            <p:cNvSpPr txBox="true"/>
            <p:nvPr/>
          </p:nvSpPr>
          <p:spPr>
            <a:xfrm>
              <a:off x="0" y="-38100"/>
              <a:ext cx="1774466" cy="874728"/>
            </a:xfrm>
            <a:prstGeom prst="rect">
              <a:avLst/>
            </a:prstGeom>
          </p:spPr>
          <p:txBody>
            <a:bodyPr anchor="ctr" rtlCol="false" tIns="50800" lIns="50800" bIns="50800" rIns="50800"/>
            <a:lstStyle/>
            <a:p>
              <a:pPr algn="ctr">
                <a:lnSpc>
                  <a:spcPts val="3080"/>
                </a:lnSpc>
              </a:pPr>
            </a:p>
          </p:txBody>
        </p:sp>
      </p:grpSp>
      <p:grpSp>
        <p:nvGrpSpPr>
          <p:cNvPr name="Group 8" id="8"/>
          <p:cNvGrpSpPr/>
          <p:nvPr/>
        </p:nvGrpSpPr>
        <p:grpSpPr>
          <a:xfrm rot="0">
            <a:off x="12027352" y="318696"/>
            <a:ext cx="4793251" cy="3008073"/>
            <a:chOff x="0" y="0"/>
            <a:chExt cx="1310420" cy="822372"/>
          </a:xfrm>
        </p:grpSpPr>
        <p:sp>
          <p:nvSpPr>
            <p:cNvPr name="Freeform 9" id="9"/>
            <p:cNvSpPr/>
            <p:nvPr/>
          </p:nvSpPr>
          <p:spPr>
            <a:xfrm flipH="false" flipV="false" rot="0">
              <a:off x="0" y="0"/>
              <a:ext cx="1310420" cy="822372"/>
            </a:xfrm>
            <a:custGeom>
              <a:avLst/>
              <a:gdLst/>
              <a:ahLst/>
              <a:cxnLst/>
              <a:rect r="r" b="b" t="t" l="l"/>
              <a:pathLst>
                <a:path h="822372" w="1310420">
                  <a:moveTo>
                    <a:pt x="46840" y="0"/>
                  </a:moveTo>
                  <a:lnTo>
                    <a:pt x="1263580" y="0"/>
                  </a:lnTo>
                  <a:cubicBezTo>
                    <a:pt x="1276002" y="0"/>
                    <a:pt x="1287916" y="4935"/>
                    <a:pt x="1296701" y="13719"/>
                  </a:cubicBezTo>
                  <a:cubicBezTo>
                    <a:pt x="1305485" y="22503"/>
                    <a:pt x="1310420" y="34417"/>
                    <a:pt x="1310420" y="46840"/>
                  </a:cubicBezTo>
                  <a:lnTo>
                    <a:pt x="1310420" y="775533"/>
                  </a:lnTo>
                  <a:cubicBezTo>
                    <a:pt x="1310420" y="787955"/>
                    <a:pt x="1305485" y="799869"/>
                    <a:pt x="1296701" y="808653"/>
                  </a:cubicBezTo>
                  <a:cubicBezTo>
                    <a:pt x="1287916" y="817438"/>
                    <a:pt x="1276002" y="822372"/>
                    <a:pt x="1263580" y="822372"/>
                  </a:cubicBezTo>
                  <a:lnTo>
                    <a:pt x="46840" y="822372"/>
                  </a:lnTo>
                  <a:cubicBezTo>
                    <a:pt x="34417" y="822372"/>
                    <a:pt x="22503" y="817438"/>
                    <a:pt x="13719" y="808653"/>
                  </a:cubicBezTo>
                  <a:cubicBezTo>
                    <a:pt x="4935" y="799869"/>
                    <a:pt x="0" y="787955"/>
                    <a:pt x="0" y="775533"/>
                  </a:cubicBezTo>
                  <a:lnTo>
                    <a:pt x="0" y="46840"/>
                  </a:lnTo>
                  <a:cubicBezTo>
                    <a:pt x="0" y="34417"/>
                    <a:pt x="4935" y="22503"/>
                    <a:pt x="13719" y="13719"/>
                  </a:cubicBezTo>
                  <a:cubicBezTo>
                    <a:pt x="22503" y="4935"/>
                    <a:pt x="34417" y="0"/>
                    <a:pt x="46840" y="0"/>
                  </a:cubicBezTo>
                  <a:close/>
                </a:path>
              </a:pathLst>
            </a:custGeom>
            <a:solidFill>
              <a:srgbClr val="14615B"/>
            </a:solidFill>
          </p:spPr>
        </p:sp>
        <p:sp>
          <p:nvSpPr>
            <p:cNvPr name="TextBox 10" id="10"/>
            <p:cNvSpPr txBox="true"/>
            <p:nvPr/>
          </p:nvSpPr>
          <p:spPr>
            <a:xfrm>
              <a:off x="0" y="-38100"/>
              <a:ext cx="1310420" cy="860472"/>
            </a:xfrm>
            <a:prstGeom prst="rect">
              <a:avLst/>
            </a:prstGeom>
          </p:spPr>
          <p:txBody>
            <a:bodyPr anchor="ctr" rtlCol="false" tIns="50800" lIns="50800" bIns="50800" rIns="50800"/>
            <a:lstStyle/>
            <a:p>
              <a:pPr algn="ctr">
                <a:lnSpc>
                  <a:spcPts val="3080"/>
                </a:lnSpc>
              </a:pPr>
            </a:p>
          </p:txBody>
        </p:sp>
      </p:grpSp>
      <p:sp>
        <p:nvSpPr>
          <p:cNvPr name="TextBox 11" id="11"/>
          <p:cNvSpPr txBox="true"/>
          <p:nvPr/>
        </p:nvSpPr>
        <p:spPr>
          <a:xfrm rot="0">
            <a:off x="469251" y="999133"/>
            <a:ext cx="6695425" cy="1616456"/>
          </a:xfrm>
          <a:prstGeom prst="rect">
            <a:avLst/>
          </a:prstGeom>
        </p:spPr>
        <p:txBody>
          <a:bodyPr anchor="t" rtlCol="false" tIns="0" lIns="0" bIns="0" rIns="0">
            <a:spAutoFit/>
          </a:bodyPr>
          <a:lstStyle/>
          <a:p>
            <a:pPr algn="l">
              <a:lnSpc>
                <a:spcPts val="6262"/>
              </a:lnSpc>
            </a:pPr>
            <a:r>
              <a:rPr lang="en-US" sz="6200">
                <a:solidFill>
                  <a:srgbClr val="000000"/>
                </a:solidFill>
                <a:latin typeface="Aileron"/>
                <a:ea typeface="Aileron"/>
                <a:cs typeface="Aileron"/>
                <a:sym typeface="Aileron"/>
              </a:rPr>
              <a:t>Experiment and  Observations</a:t>
            </a:r>
          </a:p>
        </p:txBody>
      </p:sp>
      <p:sp>
        <p:nvSpPr>
          <p:cNvPr name="TextBox 12" id="12"/>
          <p:cNvSpPr txBox="true"/>
          <p:nvPr/>
        </p:nvSpPr>
        <p:spPr>
          <a:xfrm rot="0">
            <a:off x="11350902" y="3665729"/>
            <a:ext cx="6352911" cy="3732807"/>
          </a:xfrm>
          <a:prstGeom prst="rect">
            <a:avLst/>
          </a:prstGeom>
        </p:spPr>
        <p:txBody>
          <a:bodyPr anchor="t" rtlCol="false" tIns="0" lIns="0" bIns="0" rIns="0">
            <a:spAutoFit/>
          </a:bodyPr>
          <a:lstStyle/>
          <a:p>
            <a:pPr algn="l" marL="412735" indent="-206368" lvl="1">
              <a:lnSpc>
                <a:spcPts val="2676"/>
              </a:lnSpc>
              <a:buFont typeface="Arial"/>
              <a:buChar char="•"/>
            </a:pPr>
            <a:r>
              <a:rPr lang="en-US" sz="1911">
                <a:solidFill>
                  <a:srgbClr val="FFFFFF"/>
                </a:solidFill>
                <a:latin typeface="Montserrat"/>
                <a:ea typeface="Montserrat"/>
                <a:cs typeface="Montserrat"/>
                <a:sym typeface="Montserrat"/>
              </a:rPr>
              <a:t>Find absorbtion using Beer-Lambert’s law and measured frequency from light sensor</a:t>
            </a:r>
          </a:p>
          <a:p>
            <a:pPr algn="l" marL="412735" indent="-206368" lvl="1">
              <a:lnSpc>
                <a:spcPts val="2676"/>
              </a:lnSpc>
              <a:buFont typeface="Arial"/>
              <a:buChar char="•"/>
            </a:pPr>
            <a:r>
              <a:rPr lang="en-US" sz="1911">
                <a:solidFill>
                  <a:srgbClr val="FFFFFF"/>
                </a:solidFill>
                <a:latin typeface="Montserrat"/>
                <a:ea typeface="Montserrat"/>
                <a:cs typeface="Montserrat"/>
                <a:sym typeface="Montserrat"/>
              </a:rPr>
              <a:t>Find concentration using:</a:t>
            </a:r>
          </a:p>
          <a:p>
            <a:pPr algn="l">
              <a:lnSpc>
                <a:spcPts val="2676"/>
              </a:lnSpc>
            </a:pPr>
            <a:r>
              <a:rPr lang="en-US" sz="1911">
                <a:solidFill>
                  <a:srgbClr val="FFFFFF"/>
                </a:solidFill>
                <a:latin typeface="Montserrat"/>
                <a:ea typeface="Montserrat"/>
                <a:cs typeface="Montserrat"/>
                <a:sym typeface="Montserrat"/>
              </a:rPr>
              <a:t>     </a:t>
            </a:r>
            <a:r>
              <a:rPr lang="en-US" sz="1911">
                <a:solidFill>
                  <a:srgbClr val="FFFFFF"/>
                </a:solidFill>
                <a:latin typeface="Montserrat"/>
                <a:ea typeface="Montserrat"/>
                <a:cs typeface="Montserrat"/>
                <a:sym typeface="Montserrat"/>
              </a:rPr>
              <a:t>c = (number of drops * 0.05ml) / 350ml</a:t>
            </a:r>
          </a:p>
          <a:p>
            <a:pPr algn="l">
              <a:lnSpc>
                <a:spcPts val="2676"/>
              </a:lnSpc>
            </a:pPr>
          </a:p>
          <a:p>
            <a:pPr algn="l" marL="412735" indent="-206368" lvl="1">
              <a:lnSpc>
                <a:spcPts val="2676"/>
              </a:lnSpc>
              <a:buFont typeface="Arial"/>
              <a:buChar char="•"/>
            </a:pPr>
            <a:r>
              <a:rPr lang="en-US" sz="1911">
                <a:solidFill>
                  <a:srgbClr val="FFFFFF"/>
                </a:solidFill>
                <a:latin typeface="Montserrat"/>
                <a:ea typeface="Montserrat"/>
                <a:cs typeface="Montserrat"/>
                <a:sym typeface="Montserrat"/>
              </a:rPr>
              <a:t>Measured flow rates for calibration</a:t>
            </a:r>
          </a:p>
          <a:p>
            <a:pPr algn="l" marL="412735" indent="-206368" lvl="1">
              <a:lnSpc>
                <a:spcPts val="2676"/>
              </a:lnSpc>
              <a:buFont typeface="Arial"/>
              <a:buChar char="•"/>
            </a:pPr>
            <a:r>
              <a:rPr lang="en-US" sz="1911">
                <a:solidFill>
                  <a:srgbClr val="FFFFFF"/>
                </a:solidFill>
                <a:latin typeface="Montserrat"/>
                <a:ea typeface="Montserrat"/>
                <a:cs typeface="Montserrat"/>
                <a:sym typeface="Montserrat"/>
              </a:rPr>
              <a:t>Created an app connected to the arduino, having separate buttons to control each flow</a:t>
            </a:r>
          </a:p>
          <a:p>
            <a:pPr algn="l">
              <a:lnSpc>
                <a:spcPts val="2676"/>
              </a:lnSpc>
            </a:pPr>
          </a:p>
          <a:p>
            <a:pPr algn="l">
              <a:lnSpc>
                <a:spcPts val="2676"/>
              </a:lnSpc>
            </a:pPr>
          </a:p>
          <a:p>
            <a:pPr algn="l">
              <a:lnSpc>
                <a:spcPts val="1633"/>
              </a:lnSpc>
            </a:pPr>
          </a:p>
          <a:p>
            <a:pPr algn="l">
              <a:lnSpc>
                <a:spcPts val="1633"/>
              </a:lnSpc>
            </a:pPr>
          </a:p>
        </p:txBody>
      </p:sp>
      <p:grpSp>
        <p:nvGrpSpPr>
          <p:cNvPr name="Group 13" id="13"/>
          <p:cNvGrpSpPr/>
          <p:nvPr/>
        </p:nvGrpSpPr>
        <p:grpSpPr>
          <a:xfrm rot="0">
            <a:off x="6507577" y="318696"/>
            <a:ext cx="5272845" cy="2932585"/>
            <a:chOff x="0" y="0"/>
            <a:chExt cx="7030460" cy="3910113"/>
          </a:xfrm>
        </p:grpSpPr>
        <p:grpSp>
          <p:nvGrpSpPr>
            <p:cNvPr name="Group 14" id="14"/>
            <p:cNvGrpSpPr/>
            <p:nvPr/>
          </p:nvGrpSpPr>
          <p:grpSpPr>
            <a:xfrm rot="0">
              <a:off x="0" y="0"/>
              <a:ext cx="6342617" cy="3910113"/>
              <a:chOff x="0" y="0"/>
              <a:chExt cx="1357098" cy="836628"/>
            </a:xfrm>
          </p:grpSpPr>
          <p:sp>
            <p:nvSpPr>
              <p:cNvPr name="Freeform 15" id="15"/>
              <p:cNvSpPr/>
              <p:nvPr/>
            </p:nvSpPr>
            <p:spPr>
              <a:xfrm flipH="false" flipV="false" rot="0">
                <a:off x="0" y="0"/>
                <a:ext cx="1357098" cy="836628"/>
              </a:xfrm>
              <a:custGeom>
                <a:avLst/>
                <a:gdLst/>
                <a:ahLst/>
                <a:cxnLst/>
                <a:rect r="r" b="b" t="t" l="l"/>
                <a:pathLst>
                  <a:path h="836628" w="1357098">
                    <a:moveTo>
                      <a:pt x="47197" y="0"/>
                    </a:moveTo>
                    <a:lnTo>
                      <a:pt x="1309901" y="0"/>
                    </a:lnTo>
                    <a:cubicBezTo>
                      <a:pt x="1322419" y="0"/>
                      <a:pt x="1334423" y="4973"/>
                      <a:pt x="1343275" y="13824"/>
                    </a:cubicBezTo>
                    <a:cubicBezTo>
                      <a:pt x="1352126" y="22675"/>
                      <a:pt x="1357098" y="34680"/>
                      <a:pt x="1357098" y="47197"/>
                    </a:cubicBezTo>
                    <a:lnTo>
                      <a:pt x="1357098" y="789430"/>
                    </a:lnTo>
                    <a:cubicBezTo>
                      <a:pt x="1357098" y="815497"/>
                      <a:pt x="1335968" y="836628"/>
                      <a:pt x="1309901" y="836628"/>
                    </a:cubicBezTo>
                    <a:lnTo>
                      <a:pt x="47197" y="836628"/>
                    </a:lnTo>
                    <a:cubicBezTo>
                      <a:pt x="21131" y="836628"/>
                      <a:pt x="0" y="815497"/>
                      <a:pt x="0" y="789430"/>
                    </a:cubicBezTo>
                    <a:lnTo>
                      <a:pt x="0" y="47197"/>
                    </a:lnTo>
                    <a:cubicBezTo>
                      <a:pt x="0" y="21131"/>
                      <a:pt x="21131" y="0"/>
                      <a:pt x="47197" y="0"/>
                    </a:cubicBezTo>
                    <a:close/>
                  </a:path>
                </a:pathLst>
              </a:custGeom>
              <a:solidFill>
                <a:srgbClr val="14615B"/>
              </a:solidFill>
            </p:spPr>
          </p:sp>
          <p:sp>
            <p:nvSpPr>
              <p:cNvPr name="TextBox 16" id="16"/>
              <p:cNvSpPr txBox="true"/>
              <p:nvPr/>
            </p:nvSpPr>
            <p:spPr>
              <a:xfrm>
                <a:off x="0" y="-38100"/>
                <a:ext cx="1357098" cy="874728"/>
              </a:xfrm>
              <a:prstGeom prst="rect">
                <a:avLst/>
              </a:prstGeom>
            </p:spPr>
            <p:txBody>
              <a:bodyPr anchor="ctr" rtlCol="false" tIns="50800" lIns="50800" bIns="50800" rIns="50800"/>
              <a:lstStyle/>
              <a:p>
                <a:pPr algn="ctr">
                  <a:lnSpc>
                    <a:spcPts val="3080"/>
                  </a:lnSpc>
                </a:pPr>
              </a:p>
            </p:txBody>
          </p:sp>
        </p:grpSp>
        <p:sp>
          <p:nvSpPr>
            <p:cNvPr name="TextBox 17" id="17"/>
            <p:cNvSpPr txBox="true"/>
            <p:nvPr/>
          </p:nvSpPr>
          <p:spPr>
            <a:xfrm rot="0">
              <a:off x="429120" y="266868"/>
              <a:ext cx="5444515" cy="1157940"/>
            </a:xfrm>
            <a:prstGeom prst="rect">
              <a:avLst/>
            </a:prstGeom>
          </p:spPr>
          <p:txBody>
            <a:bodyPr anchor="t" rtlCol="false" tIns="0" lIns="0" bIns="0" rIns="0">
              <a:spAutoFit/>
            </a:bodyPr>
            <a:lstStyle/>
            <a:p>
              <a:pPr algn="l">
                <a:lnSpc>
                  <a:spcPts val="3538"/>
                </a:lnSpc>
              </a:pPr>
              <a:r>
                <a:rPr lang="en-US" sz="2527" b="true">
                  <a:solidFill>
                    <a:srgbClr val="F5D77D"/>
                  </a:solidFill>
                  <a:latin typeface="Montserrat Bold"/>
                  <a:ea typeface="Montserrat Bold"/>
                  <a:cs typeface="Montserrat Bold"/>
                  <a:sym typeface="Montserrat Bold"/>
                </a:rPr>
                <a:t>Pump Calibrations (Flow Rates) - false</a:t>
              </a:r>
            </a:p>
          </p:txBody>
        </p:sp>
        <p:sp>
          <p:nvSpPr>
            <p:cNvPr name="TextBox 18" id="18"/>
            <p:cNvSpPr txBox="true"/>
            <p:nvPr/>
          </p:nvSpPr>
          <p:spPr>
            <a:xfrm rot="0">
              <a:off x="429120" y="1609068"/>
              <a:ext cx="6601340" cy="1788551"/>
            </a:xfrm>
            <a:prstGeom prst="rect">
              <a:avLst/>
            </a:prstGeom>
          </p:spPr>
          <p:txBody>
            <a:bodyPr anchor="t" rtlCol="false" tIns="0" lIns="0" bIns="0" rIns="0">
              <a:spAutoFit/>
            </a:bodyPr>
            <a:lstStyle/>
            <a:p>
              <a:pPr algn="l">
                <a:lnSpc>
                  <a:spcPts val="3641"/>
                </a:lnSpc>
              </a:pPr>
              <a:r>
                <a:rPr lang="en-US" sz="2601">
                  <a:solidFill>
                    <a:srgbClr val="FFFFFF"/>
                  </a:solidFill>
                  <a:latin typeface="Montserrat"/>
                  <a:ea typeface="Montserrat"/>
                  <a:cs typeface="Montserrat"/>
                  <a:sym typeface="Montserrat"/>
                </a:rPr>
                <a:t>Waste: 9.4mL/s</a:t>
              </a:r>
            </a:p>
            <a:p>
              <a:pPr algn="l">
                <a:lnSpc>
                  <a:spcPts val="3641"/>
                </a:lnSpc>
              </a:pPr>
              <a:r>
                <a:rPr lang="en-US" sz="2601">
                  <a:solidFill>
                    <a:srgbClr val="FFFFFF"/>
                  </a:solidFill>
                  <a:latin typeface="Montserrat"/>
                  <a:ea typeface="Montserrat"/>
                  <a:cs typeface="Montserrat"/>
                  <a:sym typeface="Montserrat"/>
                </a:rPr>
                <a:t>Clear: 7.95mL/s</a:t>
              </a:r>
            </a:p>
            <a:p>
              <a:pPr algn="l">
                <a:lnSpc>
                  <a:spcPts val="3641"/>
                </a:lnSpc>
              </a:pPr>
              <a:r>
                <a:rPr lang="en-US" sz="2601">
                  <a:solidFill>
                    <a:srgbClr val="FFFFFF"/>
                  </a:solidFill>
                  <a:latin typeface="Montserrat"/>
                  <a:ea typeface="Montserrat"/>
                  <a:cs typeface="Montserrat"/>
                  <a:sym typeface="Montserrat"/>
                </a:rPr>
                <a:t>Dye: 8.9mL/s</a:t>
              </a:r>
            </a:p>
          </p:txBody>
        </p:sp>
      </p:grpSp>
      <p:grpSp>
        <p:nvGrpSpPr>
          <p:cNvPr name="Group 19" id="19"/>
          <p:cNvGrpSpPr/>
          <p:nvPr/>
        </p:nvGrpSpPr>
        <p:grpSpPr>
          <a:xfrm rot="0">
            <a:off x="11055265" y="6960385"/>
            <a:ext cx="6737425" cy="3176571"/>
            <a:chOff x="0" y="0"/>
            <a:chExt cx="1774466" cy="836628"/>
          </a:xfrm>
        </p:grpSpPr>
        <p:sp>
          <p:nvSpPr>
            <p:cNvPr name="Freeform 20" id="20"/>
            <p:cNvSpPr/>
            <p:nvPr/>
          </p:nvSpPr>
          <p:spPr>
            <a:xfrm flipH="false" flipV="false" rot="0">
              <a:off x="0" y="0"/>
              <a:ext cx="1774466" cy="836628"/>
            </a:xfrm>
            <a:custGeom>
              <a:avLst/>
              <a:gdLst/>
              <a:ahLst/>
              <a:cxnLst/>
              <a:rect r="r" b="b" t="t" l="l"/>
              <a:pathLst>
                <a:path h="836628" w="1774466">
                  <a:moveTo>
                    <a:pt x="33324" y="0"/>
                  </a:moveTo>
                  <a:lnTo>
                    <a:pt x="1741142" y="0"/>
                  </a:lnTo>
                  <a:cubicBezTo>
                    <a:pt x="1759546" y="0"/>
                    <a:pt x="1774466" y="14920"/>
                    <a:pt x="1774466" y="33324"/>
                  </a:cubicBezTo>
                  <a:lnTo>
                    <a:pt x="1774466" y="803304"/>
                  </a:lnTo>
                  <a:cubicBezTo>
                    <a:pt x="1774466" y="812142"/>
                    <a:pt x="1770955" y="820618"/>
                    <a:pt x="1764706" y="826867"/>
                  </a:cubicBezTo>
                  <a:cubicBezTo>
                    <a:pt x="1758456" y="833117"/>
                    <a:pt x="1749980" y="836628"/>
                    <a:pt x="1741142" y="836628"/>
                  </a:cubicBezTo>
                  <a:lnTo>
                    <a:pt x="33324" y="836628"/>
                  </a:lnTo>
                  <a:cubicBezTo>
                    <a:pt x="24486" y="836628"/>
                    <a:pt x="16010" y="833117"/>
                    <a:pt x="9760" y="826867"/>
                  </a:cubicBezTo>
                  <a:cubicBezTo>
                    <a:pt x="3511" y="820618"/>
                    <a:pt x="0" y="812142"/>
                    <a:pt x="0" y="803304"/>
                  </a:cubicBezTo>
                  <a:lnTo>
                    <a:pt x="0" y="33324"/>
                  </a:lnTo>
                  <a:cubicBezTo>
                    <a:pt x="0" y="24486"/>
                    <a:pt x="3511" y="16010"/>
                    <a:pt x="9760" y="9760"/>
                  </a:cubicBezTo>
                  <a:cubicBezTo>
                    <a:pt x="16010" y="3511"/>
                    <a:pt x="24486" y="0"/>
                    <a:pt x="33324" y="0"/>
                  </a:cubicBezTo>
                  <a:close/>
                </a:path>
              </a:pathLst>
            </a:custGeom>
            <a:solidFill>
              <a:srgbClr val="14615B"/>
            </a:solidFill>
          </p:spPr>
        </p:sp>
        <p:sp>
          <p:nvSpPr>
            <p:cNvPr name="TextBox 21" id="21"/>
            <p:cNvSpPr txBox="true"/>
            <p:nvPr/>
          </p:nvSpPr>
          <p:spPr>
            <a:xfrm>
              <a:off x="0" y="-38100"/>
              <a:ext cx="1774466" cy="874728"/>
            </a:xfrm>
            <a:prstGeom prst="rect">
              <a:avLst/>
            </a:prstGeom>
          </p:spPr>
          <p:txBody>
            <a:bodyPr anchor="ctr" rtlCol="false" tIns="50800" lIns="50800" bIns="50800" rIns="50800"/>
            <a:lstStyle/>
            <a:p>
              <a:pPr algn="ctr">
                <a:lnSpc>
                  <a:spcPts val="3080"/>
                </a:lnSpc>
              </a:pPr>
            </a:p>
          </p:txBody>
        </p:sp>
      </p:grpSp>
      <p:sp>
        <p:nvSpPr>
          <p:cNvPr name="Freeform 22" id="22"/>
          <p:cNvSpPr/>
          <p:nvPr/>
        </p:nvSpPr>
        <p:spPr>
          <a:xfrm flipH="false" flipV="false" rot="0">
            <a:off x="255399" y="3420384"/>
            <a:ext cx="9472404" cy="5668813"/>
          </a:xfrm>
          <a:custGeom>
            <a:avLst/>
            <a:gdLst/>
            <a:ahLst/>
            <a:cxnLst/>
            <a:rect r="r" b="b" t="t" l="l"/>
            <a:pathLst>
              <a:path h="5668813" w="9472404">
                <a:moveTo>
                  <a:pt x="0" y="0"/>
                </a:moveTo>
                <a:lnTo>
                  <a:pt x="9472404" y="0"/>
                </a:lnTo>
                <a:lnTo>
                  <a:pt x="9472404" y="5668813"/>
                </a:lnTo>
                <a:lnTo>
                  <a:pt x="0" y="5668813"/>
                </a:lnTo>
                <a:lnTo>
                  <a:pt x="0" y="0"/>
                </a:lnTo>
                <a:close/>
              </a:path>
            </a:pathLst>
          </a:custGeom>
          <a:blipFill>
            <a:blip r:embed="rId2"/>
            <a:stretch>
              <a:fillRect l="0" t="0" r="0" b="0"/>
            </a:stretch>
          </a:blipFill>
          <a:ln w="9525" cap="sq">
            <a:solidFill>
              <a:srgbClr val="6E6E6E"/>
            </a:solidFill>
            <a:prstDash val="solid"/>
            <a:miter/>
          </a:ln>
        </p:spPr>
      </p:sp>
      <p:sp>
        <p:nvSpPr>
          <p:cNvPr name="TextBox 23" id="23"/>
          <p:cNvSpPr txBox="true"/>
          <p:nvPr/>
        </p:nvSpPr>
        <p:spPr>
          <a:xfrm rot="0">
            <a:off x="12247579" y="382099"/>
            <a:ext cx="4026044" cy="855533"/>
          </a:xfrm>
          <a:prstGeom prst="rect">
            <a:avLst/>
          </a:prstGeom>
        </p:spPr>
        <p:txBody>
          <a:bodyPr anchor="t" rtlCol="false" tIns="0" lIns="0" bIns="0" rIns="0">
            <a:spAutoFit/>
          </a:bodyPr>
          <a:lstStyle/>
          <a:p>
            <a:pPr algn="l">
              <a:lnSpc>
                <a:spcPts val="3498"/>
              </a:lnSpc>
            </a:pPr>
            <a:r>
              <a:rPr lang="en-US" sz="2498" b="true">
                <a:solidFill>
                  <a:srgbClr val="F5D77D"/>
                </a:solidFill>
                <a:latin typeface="Montserrat Bold"/>
                <a:ea typeface="Montserrat Bold"/>
                <a:cs typeface="Montserrat Bold"/>
                <a:sym typeface="Montserrat Bold"/>
              </a:rPr>
              <a:t>Concentration Calibrations</a:t>
            </a:r>
          </a:p>
        </p:txBody>
      </p:sp>
      <p:sp>
        <p:nvSpPr>
          <p:cNvPr name="TextBox 24" id="24"/>
          <p:cNvSpPr txBox="true"/>
          <p:nvPr/>
        </p:nvSpPr>
        <p:spPr>
          <a:xfrm rot="0">
            <a:off x="12027352" y="1525560"/>
            <a:ext cx="4651136" cy="1569364"/>
          </a:xfrm>
          <a:prstGeom prst="rect">
            <a:avLst/>
          </a:prstGeom>
        </p:spPr>
        <p:txBody>
          <a:bodyPr anchor="t" rtlCol="false" tIns="0" lIns="0" bIns="0" rIns="0">
            <a:spAutoFit/>
          </a:bodyPr>
          <a:lstStyle/>
          <a:p>
            <a:pPr algn="l" marL="480684" indent="-240342" lvl="1">
              <a:lnSpc>
                <a:spcPts val="3116"/>
              </a:lnSpc>
              <a:buFont typeface="Arial"/>
              <a:buChar char="•"/>
            </a:pPr>
            <a:r>
              <a:rPr lang="en-US" sz="2226">
                <a:solidFill>
                  <a:srgbClr val="FFFFFF"/>
                </a:solidFill>
                <a:latin typeface="Montserrat"/>
                <a:ea typeface="Montserrat"/>
                <a:cs typeface="Montserrat"/>
                <a:sym typeface="Montserrat"/>
              </a:rPr>
              <a:t>Got frequency from sensors</a:t>
            </a:r>
          </a:p>
          <a:p>
            <a:pPr algn="l" marL="480684" indent="-240342" lvl="1">
              <a:lnSpc>
                <a:spcPts val="3116"/>
              </a:lnSpc>
              <a:buFont typeface="Arial"/>
              <a:buChar char="•"/>
            </a:pPr>
            <a:r>
              <a:rPr lang="en-US" sz="2226">
                <a:solidFill>
                  <a:srgbClr val="FFFFFF"/>
                </a:solidFill>
                <a:latin typeface="Montserrat"/>
                <a:ea typeface="Montserrat"/>
                <a:cs typeface="Montserrat"/>
                <a:sym typeface="Montserrat"/>
              </a:rPr>
              <a:t>Calculate absorbance from frequency, verify concentration</a:t>
            </a:r>
          </a:p>
        </p:txBody>
      </p:sp>
      <p:sp>
        <p:nvSpPr>
          <p:cNvPr name="TextBox 25" id="25"/>
          <p:cNvSpPr txBox="true"/>
          <p:nvPr/>
        </p:nvSpPr>
        <p:spPr>
          <a:xfrm rot="0">
            <a:off x="381059" y="9220200"/>
            <a:ext cx="10421892" cy="763270"/>
          </a:xfrm>
          <a:prstGeom prst="rect">
            <a:avLst/>
          </a:prstGeom>
        </p:spPr>
        <p:txBody>
          <a:bodyPr anchor="t" rtlCol="false" tIns="0" lIns="0" bIns="0" rIns="0">
            <a:spAutoFit/>
          </a:bodyPr>
          <a:lstStyle/>
          <a:p>
            <a:pPr algn="l">
              <a:lnSpc>
                <a:spcPts val="3080"/>
              </a:lnSpc>
              <a:spcBef>
                <a:spcPct val="0"/>
              </a:spcBef>
            </a:pPr>
            <a:r>
              <a:rPr lang="en-US" sz="2200">
                <a:solidFill>
                  <a:srgbClr val="FFFFFF"/>
                </a:solidFill>
                <a:latin typeface="Montserrat"/>
                <a:ea typeface="Montserrat"/>
                <a:cs typeface="Montserrat"/>
                <a:sym typeface="Montserrat"/>
              </a:rPr>
              <a:t>Graph showing A, absorbance, depending on c, concentration of mL of dye per mL of water) </a:t>
            </a:r>
          </a:p>
        </p:txBody>
      </p:sp>
      <p:sp>
        <p:nvSpPr>
          <p:cNvPr name="TextBox 26" id="26"/>
          <p:cNvSpPr txBox="true"/>
          <p:nvPr/>
        </p:nvSpPr>
        <p:spPr>
          <a:xfrm rot="0">
            <a:off x="11247523" y="7068543"/>
            <a:ext cx="6352911" cy="1656418"/>
          </a:xfrm>
          <a:prstGeom prst="rect">
            <a:avLst/>
          </a:prstGeom>
        </p:spPr>
        <p:txBody>
          <a:bodyPr anchor="t" rtlCol="false" tIns="0" lIns="0" bIns="0" rIns="0">
            <a:spAutoFit/>
          </a:bodyPr>
          <a:lstStyle/>
          <a:p>
            <a:pPr algn="l">
              <a:lnSpc>
                <a:spcPts val="2676"/>
              </a:lnSpc>
            </a:pPr>
          </a:p>
          <a:p>
            <a:pPr algn="l" marL="412735" indent="-206368" lvl="1">
              <a:lnSpc>
                <a:spcPts val="2676"/>
              </a:lnSpc>
              <a:buFont typeface="Arial"/>
              <a:buChar char="•"/>
            </a:pPr>
            <a:r>
              <a:rPr lang="en-US" sz="1911">
                <a:solidFill>
                  <a:srgbClr val="FFFFFF"/>
                </a:solidFill>
                <a:latin typeface="Montserrat"/>
                <a:ea typeface="Montserrat"/>
                <a:cs typeface="Montserrat"/>
                <a:sym typeface="Montserrat"/>
              </a:rPr>
              <a:t>Minimized external light</a:t>
            </a:r>
          </a:p>
          <a:p>
            <a:pPr algn="l" marL="412735" indent="-206368" lvl="1">
              <a:lnSpc>
                <a:spcPts val="2676"/>
              </a:lnSpc>
              <a:buFont typeface="Arial"/>
              <a:buChar char="•"/>
            </a:pPr>
            <a:r>
              <a:rPr lang="en-US" sz="1911">
                <a:solidFill>
                  <a:srgbClr val="FFFFFF"/>
                </a:solidFill>
                <a:latin typeface="Montserrat"/>
                <a:ea typeface="Montserrat"/>
                <a:cs typeface="Montserrat"/>
                <a:sym typeface="Montserrat"/>
              </a:rPr>
              <a:t>Use camera sensors to measure water levels, to control the volume </a:t>
            </a:r>
          </a:p>
          <a:p>
            <a:pPr algn="l" marL="412735" indent="-206368" lvl="1">
              <a:lnSpc>
                <a:spcPts val="2676"/>
              </a:lnSpc>
              <a:buFont typeface="Arial"/>
              <a:buChar char="•"/>
            </a:pPr>
            <a:r>
              <a:rPr lang="en-US" sz="1911">
                <a:solidFill>
                  <a:srgbClr val="FFFFFF"/>
                </a:solidFill>
                <a:latin typeface="Montserrat"/>
                <a:ea typeface="Montserrat"/>
                <a:cs typeface="Montserrat"/>
                <a:sym typeface="Montserrat"/>
              </a:rPr>
              <a:t>Testing the controller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2283323"/>
            <a:ext cx="5152733" cy="6974977"/>
            <a:chOff x="0" y="0"/>
            <a:chExt cx="1357098" cy="1837031"/>
          </a:xfrm>
        </p:grpSpPr>
        <p:sp>
          <p:nvSpPr>
            <p:cNvPr name="Freeform 3" id="3"/>
            <p:cNvSpPr/>
            <p:nvPr/>
          </p:nvSpPr>
          <p:spPr>
            <a:xfrm flipH="false" flipV="false" rot="0">
              <a:off x="0" y="0"/>
              <a:ext cx="1357098" cy="1837031"/>
            </a:xfrm>
            <a:custGeom>
              <a:avLst/>
              <a:gdLst/>
              <a:ahLst/>
              <a:cxnLst/>
              <a:rect r="r" b="b" t="t" l="l"/>
              <a:pathLst>
                <a:path h="1837031" w="1357098">
                  <a:moveTo>
                    <a:pt x="43572" y="0"/>
                  </a:moveTo>
                  <a:lnTo>
                    <a:pt x="1313526" y="0"/>
                  </a:lnTo>
                  <a:cubicBezTo>
                    <a:pt x="1325082" y="0"/>
                    <a:pt x="1336165" y="4591"/>
                    <a:pt x="1344336" y="12762"/>
                  </a:cubicBezTo>
                  <a:cubicBezTo>
                    <a:pt x="1352508" y="20933"/>
                    <a:pt x="1357098" y="32016"/>
                    <a:pt x="1357098" y="43572"/>
                  </a:cubicBezTo>
                  <a:lnTo>
                    <a:pt x="1357098" y="1793459"/>
                  </a:lnTo>
                  <a:cubicBezTo>
                    <a:pt x="1357098" y="1805015"/>
                    <a:pt x="1352508" y="1816097"/>
                    <a:pt x="1344336" y="1824269"/>
                  </a:cubicBezTo>
                  <a:cubicBezTo>
                    <a:pt x="1336165" y="1832440"/>
                    <a:pt x="1325082" y="1837031"/>
                    <a:pt x="1313526" y="1837031"/>
                  </a:cubicBezTo>
                  <a:lnTo>
                    <a:pt x="43572" y="1837031"/>
                  </a:lnTo>
                  <a:cubicBezTo>
                    <a:pt x="32016" y="1837031"/>
                    <a:pt x="20933" y="1832440"/>
                    <a:pt x="12762" y="1824269"/>
                  </a:cubicBezTo>
                  <a:cubicBezTo>
                    <a:pt x="4591" y="1816097"/>
                    <a:pt x="0" y="1805015"/>
                    <a:pt x="0" y="1793459"/>
                  </a:cubicBezTo>
                  <a:lnTo>
                    <a:pt x="0" y="43572"/>
                  </a:lnTo>
                  <a:cubicBezTo>
                    <a:pt x="0" y="32016"/>
                    <a:pt x="4591" y="20933"/>
                    <a:pt x="12762" y="12762"/>
                  </a:cubicBezTo>
                  <a:cubicBezTo>
                    <a:pt x="20933" y="4591"/>
                    <a:pt x="32016" y="0"/>
                    <a:pt x="43572" y="0"/>
                  </a:cubicBezTo>
                  <a:close/>
                </a:path>
              </a:pathLst>
            </a:custGeom>
            <a:solidFill>
              <a:srgbClr val="14615B"/>
            </a:solidFill>
          </p:spPr>
        </p:sp>
        <p:sp>
          <p:nvSpPr>
            <p:cNvPr name="TextBox 4" id="4"/>
            <p:cNvSpPr txBox="true"/>
            <p:nvPr/>
          </p:nvSpPr>
          <p:spPr>
            <a:xfrm>
              <a:off x="0" y="-38100"/>
              <a:ext cx="1357098" cy="1875131"/>
            </a:xfrm>
            <a:prstGeom prst="rect">
              <a:avLst/>
            </a:prstGeom>
          </p:spPr>
          <p:txBody>
            <a:bodyPr anchor="ctr" rtlCol="false" tIns="50800" lIns="50800" bIns="50800" rIns="50800"/>
            <a:lstStyle/>
            <a:p>
              <a:pPr algn="ctr">
                <a:lnSpc>
                  <a:spcPts val="3080"/>
                </a:lnSpc>
              </a:pPr>
            </a:p>
          </p:txBody>
        </p:sp>
      </p:grpSp>
      <p:grpSp>
        <p:nvGrpSpPr>
          <p:cNvPr name="Group 5" id="5"/>
          <p:cNvGrpSpPr/>
          <p:nvPr/>
        </p:nvGrpSpPr>
        <p:grpSpPr>
          <a:xfrm rot="0">
            <a:off x="6567633" y="2283323"/>
            <a:ext cx="5152733" cy="6974977"/>
            <a:chOff x="0" y="0"/>
            <a:chExt cx="1357098" cy="1837031"/>
          </a:xfrm>
        </p:grpSpPr>
        <p:sp>
          <p:nvSpPr>
            <p:cNvPr name="Freeform 6" id="6"/>
            <p:cNvSpPr/>
            <p:nvPr/>
          </p:nvSpPr>
          <p:spPr>
            <a:xfrm flipH="false" flipV="false" rot="0">
              <a:off x="0" y="0"/>
              <a:ext cx="1357098" cy="1837031"/>
            </a:xfrm>
            <a:custGeom>
              <a:avLst/>
              <a:gdLst/>
              <a:ahLst/>
              <a:cxnLst/>
              <a:rect r="r" b="b" t="t" l="l"/>
              <a:pathLst>
                <a:path h="1837031" w="1357098">
                  <a:moveTo>
                    <a:pt x="43572" y="0"/>
                  </a:moveTo>
                  <a:lnTo>
                    <a:pt x="1313526" y="0"/>
                  </a:lnTo>
                  <a:cubicBezTo>
                    <a:pt x="1325082" y="0"/>
                    <a:pt x="1336165" y="4591"/>
                    <a:pt x="1344336" y="12762"/>
                  </a:cubicBezTo>
                  <a:cubicBezTo>
                    <a:pt x="1352508" y="20933"/>
                    <a:pt x="1357098" y="32016"/>
                    <a:pt x="1357098" y="43572"/>
                  </a:cubicBezTo>
                  <a:lnTo>
                    <a:pt x="1357098" y="1793459"/>
                  </a:lnTo>
                  <a:cubicBezTo>
                    <a:pt x="1357098" y="1805015"/>
                    <a:pt x="1352508" y="1816097"/>
                    <a:pt x="1344336" y="1824269"/>
                  </a:cubicBezTo>
                  <a:cubicBezTo>
                    <a:pt x="1336165" y="1832440"/>
                    <a:pt x="1325082" y="1837031"/>
                    <a:pt x="1313526" y="1837031"/>
                  </a:cubicBezTo>
                  <a:lnTo>
                    <a:pt x="43572" y="1837031"/>
                  </a:lnTo>
                  <a:cubicBezTo>
                    <a:pt x="32016" y="1837031"/>
                    <a:pt x="20933" y="1832440"/>
                    <a:pt x="12762" y="1824269"/>
                  </a:cubicBezTo>
                  <a:cubicBezTo>
                    <a:pt x="4591" y="1816097"/>
                    <a:pt x="0" y="1805015"/>
                    <a:pt x="0" y="1793459"/>
                  </a:cubicBezTo>
                  <a:lnTo>
                    <a:pt x="0" y="43572"/>
                  </a:lnTo>
                  <a:cubicBezTo>
                    <a:pt x="0" y="32016"/>
                    <a:pt x="4591" y="20933"/>
                    <a:pt x="12762" y="12762"/>
                  </a:cubicBezTo>
                  <a:cubicBezTo>
                    <a:pt x="20933" y="4591"/>
                    <a:pt x="32016" y="0"/>
                    <a:pt x="43572" y="0"/>
                  </a:cubicBezTo>
                  <a:close/>
                </a:path>
              </a:pathLst>
            </a:custGeom>
            <a:solidFill>
              <a:srgbClr val="14615B"/>
            </a:solidFill>
          </p:spPr>
        </p:sp>
        <p:sp>
          <p:nvSpPr>
            <p:cNvPr name="TextBox 7" id="7"/>
            <p:cNvSpPr txBox="true"/>
            <p:nvPr/>
          </p:nvSpPr>
          <p:spPr>
            <a:xfrm>
              <a:off x="0" y="-38100"/>
              <a:ext cx="1357098" cy="1875131"/>
            </a:xfrm>
            <a:prstGeom prst="rect">
              <a:avLst/>
            </a:prstGeom>
          </p:spPr>
          <p:txBody>
            <a:bodyPr anchor="ctr" rtlCol="false" tIns="50800" lIns="50800" bIns="50800" rIns="50800"/>
            <a:lstStyle/>
            <a:p>
              <a:pPr algn="ctr">
                <a:lnSpc>
                  <a:spcPts val="3080"/>
                </a:lnSpc>
              </a:pPr>
            </a:p>
          </p:txBody>
        </p:sp>
      </p:grpSp>
      <p:sp>
        <p:nvSpPr>
          <p:cNvPr name="Freeform 8" id="8"/>
          <p:cNvSpPr/>
          <p:nvPr/>
        </p:nvSpPr>
        <p:spPr>
          <a:xfrm flipH="false" flipV="false" rot="0">
            <a:off x="12110892" y="2283323"/>
            <a:ext cx="5231233" cy="6974977"/>
          </a:xfrm>
          <a:custGeom>
            <a:avLst/>
            <a:gdLst/>
            <a:ahLst/>
            <a:cxnLst/>
            <a:rect r="r" b="b" t="t" l="l"/>
            <a:pathLst>
              <a:path h="6974977" w="5231233">
                <a:moveTo>
                  <a:pt x="0" y="0"/>
                </a:moveTo>
                <a:lnTo>
                  <a:pt x="5231232" y="0"/>
                </a:lnTo>
                <a:lnTo>
                  <a:pt x="5231232" y="6974977"/>
                </a:lnTo>
                <a:lnTo>
                  <a:pt x="0" y="6974977"/>
                </a:lnTo>
                <a:lnTo>
                  <a:pt x="0" y="0"/>
                </a:lnTo>
                <a:close/>
              </a:path>
            </a:pathLst>
          </a:custGeom>
          <a:blipFill>
            <a:blip r:embed="rId2"/>
            <a:stretch>
              <a:fillRect l="0" t="0" r="0" b="0"/>
            </a:stretch>
          </a:blipFill>
        </p:spPr>
      </p:sp>
      <p:sp>
        <p:nvSpPr>
          <p:cNvPr name="TextBox 9" id="9"/>
          <p:cNvSpPr txBox="true"/>
          <p:nvPr/>
        </p:nvSpPr>
        <p:spPr>
          <a:xfrm rot="0">
            <a:off x="1028700" y="1143000"/>
            <a:ext cx="8115300" cy="825881"/>
          </a:xfrm>
          <a:prstGeom prst="rect">
            <a:avLst/>
          </a:prstGeom>
        </p:spPr>
        <p:txBody>
          <a:bodyPr anchor="t" rtlCol="false" tIns="0" lIns="0" bIns="0" rIns="0">
            <a:spAutoFit/>
          </a:bodyPr>
          <a:lstStyle/>
          <a:p>
            <a:pPr algn="l">
              <a:lnSpc>
                <a:spcPts val="6262"/>
              </a:lnSpc>
            </a:pPr>
            <a:r>
              <a:rPr lang="en-US" sz="6200" b="true">
                <a:solidFill>
                  <a:srgbClr val="14615B"/>
                </a:solidFill>
                <a:latin typeface="Aileron Bold"/>
                <a:ea typeface="Aileron Bold"/>
                <a:cs typeface="Aileron Bold"/>
                <a:sym typeface="Aileron Bold"/>
              </a:rPr>
              <a:t>Setbacks</a:t>
            </a:r>
          </a:p>
        </p:txBody>
      </p:sp>
      <p:sp>
        <p:nvSpPr>
          <p:cNvPr name="TextBox 10" id="10"/>
          <p:cNvSpPr txBox="true"/>
          <p:nvPr/>
        </p:nvSpPr>
        <p:spPr>
          <a:xfrm rot="0">
            <a:off x="1468851" y="2630020"/>
            <a:ext cx="4200743" cy="1455420"/>
          </a:xfrm>
          <a:prstGeom prst="rect">
            <a:avLst/>
          </a:prstGeom>
        </p:spPr>
        <p:txBody>
          <a:bodyPr anchor="t" rtlCol="false" tIns="0" lIns="0" bIns="0" rIns="0">
            <a:spAutoFit/>
          </a:bodyPr>
          <a:lstStyle/>
          <a:p>
            <a:pPr algn="ctr">
              <a:lnSpc>
                <a:spcPts val="5880"/>
              </a:lnSpc>
            </a:pPr>
            <a:r>
              <a:rPr lang="en-US" b="true" sz="4200">
                <a:solidFill>
                  <a:srgbClr val="F5D77D"/>
                </a:solidFill>
                <a:latin typeface="Montserrat Bold"/>
                <a:ea typeface="Montserrat Bold"/>
                <a:cs typeface="Montserrat Bold"/>
                <a:sym typeface="Montserrat Bold"/>
              </a:rPr>
              <a:t>Concentration Calibration</a:t>
            </a:r>
          </a:p>
        </p:txBody>
      </p:sp>
      <p:sp>
        <p:nvSpPr>
          <p:cNvPr name="TextBox 11" id="11"/>
          <p:cNvSpPr txBox="true"/>
          <p:nvPr/>
        </p:nvSpPr>
        <p:spPr>
          <a:xfrm rot="0">
            <a:off x="7325113" y="2630020"/>
            <a:ext cx="3637774" cy="1455420"/>
          </a:xfrm>
          <a:prstGeom prst="rect">
            <a:avLst/>
          </a:prstGeom>
        </p:spPr>
        <p:txBody>
          <a:bodyPr anchor="t" rtlCol="false" tIns="0" lIns="0" bIns="0" rIns="0">
            <a:spAutoFit/>
          </a:bodyPr>
          <a:lstStyle/>
          <a:p>
            <a:pPr algn="ctr">
              <a:lnSpc>
                <a:spcPts val="5880"/>
              </a:lnSpc>
            </a:pPr>
            <a:r>
              <a:rPr lang="en-US" b="true" sz="4200">
                <a:solidFill>
                  <a:srgbClr val="F5D77D"/>
                </a:solidFill>
                <a:latin typeface="Montserrat Bold"/>
                <a:ea typeface="Montserrat Bold"/>
                <a:cs typeface="Montserrat Bold"/>
                <a:sym typeface="Montserrat Bold"/>
              </a:rPr>
              <a:t>External Light</a:t>
            </a:r>
          </a:p>
        </p:txBody>
      </p:sp>
      <p:sp>
        <p:nvSpPr>
          <p:cNvPr name="TextBox 12" id="12"/>
          <p:cNvSpPr txBox="true"/>
          <p:nvPr/>
        </p:nvSpPr>
        <p:spPr>
          <a:xfrm rot="0">
            <a:off x="6947101" y="4328727"/>
            <a:ext cx="4393797" cy="4265295"/>
          </a:xfrm>
          <a:prstGeom prst="rect">
            <a:avLst/>
          </a:prstGeom>
        </p:spPr>
        <p:txBody>
          <a:bodyPr anchor="t" rtlCol="false" tIns="0" lIns="0" bIns="0" rIns="0">
            <a:spAutoFit/>
          </a:bodyPr>
          <a:lstStyle/>
          <a:p>
            <a:pPr algn="l" marL="582930" indent="-291465" lvl="1">
              <a:lnSpc>
                <a:spcPts val="3779"/>
              </a:lnSpc>
              <a:buFont typeface="Arial"/>
              <a:buChar char="•"/>
            </a:pPr>
            <a:r>
              <a:rPr lang="en-US" sz="2700">
                <a:solidFill>
                  <a:srgbClr val="FFFFFF"/>
                </a:solidFill>
                <a:latin typeface="Montserrat"/>
                <a:ea typeface="Montserrat"/>
                <a:cs typeface="Montserrat"/>
                <a:sym typeface="Montserrat"/>
              </a:rPr>
              <a:t>On second day, outside light became darker</a:t>
            </a:r>
          </a:p>
          <a:p>
            <a:pPr algn="l" marL="582930" indent="-291465" lvl="1">
              <a:lnSpc>
                <a:spcPts val="3779"/>
              </a:lnSpc>
              <a:buFont typeface="Arial"/>
              <a:buChar char="•"/>
            </a:pPr>
            <a:r>
              <a:rPr lang="en-US" sz="2700">
                <a:solidFill>
                  <a:srgbClr val="FFFFFF"/>
                </a:solidFill>
                <a:latin typeface="Montserrat"/>
                <a:ea typeface="Montserrat"/>
                <a:cs typeface="Montserrat"/>
                <a:sym typeface="Montserrat"/>
              </a:rPr>
              <a:t>Moved to a brighter area</a:t>
            </a:r>
          </a:p>
          <a:p>
            <a:pPr algn="l" marL="582930" indent="-291465" lvl="1">
              <a:lnSpc>
                <a:spcPts val="3779"/>
              </a:lnSpc>
              <a:buFont typeface="Arial"/>
              <a:buChar char="•"/>
            </a:pPr>
            <a:r>
              <a:rPr lang="en-US" sz="2700">
                <a:solidFill>
                  <a:srgbClr val="FFFFFF"/>
                </a:solidFill>
                <a:latin typeface="Montserrat"/>
                <a:ea typeface="Montserrat"/>
                <a:cs typeface="Montserrat"/>
                <a:sym typeface="Montserrat"/>
              </a:rPr>
              <a:t>Used c</a:t>
            </a:r>
            <a:r>
              <a:rPr lang="en-US" sz="2700">
                <a:solidFill>
                  <a:srgbClr val="FFFFFF"/>
                </a:solidFill>
                <a:latin typeface="Montserrat"/>
                <a:ea typeface="Montserrat"/>
                <a:cs typeface="Montserrat"/>
                <a:sym typeface="Montserrat"/>
              </a:rPr>
              <a:t>ardboard box with incision for flashlight to minimize other light</a:t>
            </a:r>
          </a:p>
        </p:txBody>
      </p:sp>
      <p:sp>
        <p:nvSpPr>
          <p:cNvPr name="TextBox 13" id="13"/>
          <p:cNvSpPr txBox="true"/>
          <p:nvPr/>
        </p:nvSpPr>
        <p:spPr>
          <a:xfrm rot="0">
            <a:off x="1468851" y="4328727"/>
            <a:ext cx="4396623" cy="3789045"/>
          </a:xfrm>
          <a:prstGeom prst="rect">
            <a:avLst/>
          </a:prstGeom>
        </p:spPr>
        <p:txBody>
          <a:bodyPr anchor="t" rtlCol="false" tIns="0" lIns="0" bIns="0" rIns="0">
            <a:spAutoFit/>
          </a:bodyPr>
          <a:lstStyle/>
          <a:p>
            <a:pPr algn="l" marL="582930" indent="-291465" lvl="1">
              <a:lnSpc>
                <a:spcPts val="3779"/>
              </a:lnSpc>
              <a:buFont typeface="Arial"/>
              <a:buChar char="•"/>
            </a:pPr>
            <a:r>
              <a:rPr lang="en-US" sz="2700">
                <a:solidFill>
                  <a:srgbClr val="FFFFFF"/>
                </a:solidFill>
                <a:latin typeface="Montserrat"/>
                <a:ea typeface="Montserrat"/>
                <a:cs typeface="Montserrat"/>
                <a:sym typeface="Montserrat"/>
              </a:rPr>
              <a:t>Wrong calibration and anomalous values because of the use of two identical solutions </a:t>
            </a:r>
          </a:p>
          <a:p>
            <a:pPr algn="l" marL="582930" indent="-291465" lvl="1">
              <a:lnSpc>
                <a:spcPts val="3779"/>
              </a:lnSpc>
              <a:buFont typeface="Arial"/>
              <a:buChar char="•"/>
            </a:pPr>
            <a:r>
              <a:rPr lang="en-US" sz="2700">
                <a:solidFill>
                  <a:srgbClr val="FFFFFF"/>
                </a:solidFill>
                <a:latin typeface="Montserrat"/>
                <a:ea typeface="Montserrat"/>
                <a:cs typeface="Montserrat"/>
                <a:sym typeface="Montserrat"/>
              </a:rPr>
              <a:t>False usage of units</a:t>
            </a:r>
          </a:p>
          <a:p>
            <a:pPr algn="l" marL="582930" indent="-291465" lvl="1">
              <a:lnSpc>
                <a:spcPts val="3779"/>
              </a:lnSpc>
              <a:buFont typeface="Arial"/>
              <a:buChar char="•"/>
            </a:pPr>
            <a:r>
              <a:rPr lang="en-US" sz="2700">
                <a:solidFill>
                  <a:srgbClr val="FFFFFF"/>
                </a:solidFill>
                <a:latin typeface="Montserrat"/>
                <a:ea typeface="Montserrat"/>
                <a:cs typeface="Montserrat"/>
                <a:sym typeface="Montserrat"/>
              </a:rPr>
              <a:t>Unnessary flow calibrations </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14615B"/>
        </a:solidFill>
      </p:bgPr>
    </p:bg>
    <p:spTree>
      <p:nvGrpSpPr>
        <p:cNvPr id="1" name=""/>
        <p:cNvGrpSpPr/>
        <p:nvPr/>
      </p:nvGrpSpPr>
      <p:grpSpPr>
        <a:xfrm>
          <a:off x="0" y="0"/>
          <a:ext cx="0" cy="0"/>
          <a:chOff x="0" y="0"/>
          <a:chExt cx="0" cy="0"/>
        </a:xfrm>
      </p:grpSpPr>
      <p:grpSp>
        <p:nvGrpSpPr>
          <p:cNvPr name="Group 2" id="2"/>
          <p:cNvGrpSpPr/>
          <p:nvPr/>
        </p:nvGrpSpPr>
        <p:grpSpPr>
          <a:xfrm rot="0">
            <a:off x="15854362" y="2433637"/>
            <a:ext cx="4867275" cy="2433638"/>
            <a:chOff x="0" y="0"/>
            <a:chExt cx="660400" cy="330200"/>
          </a:xfrm>
        </p:grpSpPr>
        <p:sp>
          <p:nvSpPr>
            <p:cNvPr name="Freeform 3" id="3"/>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D9D9D9"/>
            </a:solidFill>
          </p:spPr>
        </p:sp>
        <p:sp>
          <p:nvSpPr>
            <p:cNvPr name="TextBox 4" id="4"/>
            <p:cNvSpPr txBox="true"/>
            <p:nvPr/>
          </p:nvSpPr>
          <p:spPr>
            <a:xfrm>
              <a:off x="127000" y="6350"/>
              <a:ext cx="406400" cy="1841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800000">
            <a:off x="15854362" y="0"/>
            <a:ext cx="4867275" cy="2433638"/>
            <a:chOff x="0" y="0"/>
            <a:chExt cx="660400" cy="330200"/>
          </a:xfrm>
        </p:grpSpPr>
        <p:sp>
          <p:nvSpPr>
            <p:cNvPr name="Freeform 6" id="6"/>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2E8785"/>
            </a:solidFill>
          </p:spPr>
        </p:sp>
        <p:sp>
          <p:nvSpPr>
            <p:cNvPr name="TextBox 7" id="7"/>
            <p:cNvSpPr txBox="true"/>
            <p:nvPr/>
          </p:nvSpPr>
          <p:spPr>
            <a:xfrm>
              <a:off x="127000" y="6350"/>
              <a:ext cx="406400" cy="184150"/>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028700" y="1143000"/>
            <a:ext cx="11728189" cy="825881"/>
          </a:xfrm>
          <a:prstGeom prst="rect">
            <a:avLst/>
          </a:prstGeom>
        </p:spPr>
        <p:txBody>
          <a:bodyPr anchor="t" rtlCol="false" tIns="0" lIns="0" bIns="0" rIns="0">
            <a:spAutoFit/>
          </a:bodyPr>
          <a:lstStyle/>
          <a:p>
            <a:pPr algn="l">
              <a:lnSpc>
                <a:spcPts val="6262"/>
              </a:lnSpc>
            </a:pPr>
            <a:r>
              <a:rPr lang="en-US" sz="6200" b="true">
                <a:solidFill>
                  <a:srgbClr val="FFFFFF"/>
                </a:solidFill>
                <a:latin typeface="Aileron Bold"/>
                <a:ea typeface="Aileron Bold"/>
                <a:cs typeface="Aileron Bold"/>
                <a:sym typeface="Aileron Bold"/>
              </a:rPr>
              <a:t>Safety and Regulations</a:t>
            </a:r>
          </a:p>
        </p:txBody>
      </p:sp>
      <p:sp>
        <p:nvSpPr>
          <p:cNvPr name="TextBox 9" id="9"/>
          <p:cNvSpPr txBox="true"/>
          <p:nvPr/>
        </p:nvSpPr>
        <p:spPr>
          <a:xfrm rot="0">
            <a:off x="1028700" y="3224967"/>
            <a:ext cx="11661081" cy="1462405"/>
          </a:xfrm>
          <a:prstGeom prst="rect">
            <a:avLst/>
          </a:prstGeom>
        </p:spPr>
        <p:txBody>
          <a:bodyPr anchor="t" rtlCol="false" tIns="0" lIns="0" bIns="0" rIns="0">
            <a:spAutoFit/>
          </a:bodyPr>
          <a:lstStyle/>
          <a:p>
            <a:pPr algn="l" marL="604519" indent="-302260" lvl="1">
              <a:lnSpc>
                <a:spcPts val="3919"/>
              </a:lnSpc>
              <a:buFont typeface="Arial"/>
              <a:buChar char="•"/>
            </a:pPr>
            <a:r>
              <a:rPr lang="en-US" sz="2799">
                <a:solidFill>
                  <a:srgbClr val="FFFFFF"/>
                </a:solidFill>
                <a:latin typeface="Montserrat"/>
                <a:ea typeface="Montserrat"/>
                <a:cs typeface="Montserrat"/>
                <a:sym typeface="Montserrat"/>
              </a:rPr>
              <a:t>A</a:t>
            </a:r>
            <a:r>
              <a:rPr lang="en-US" sz="2799">
                <a:solidFill>
                  <a:srgbClr val="FFFFFF"/>
                </a:solidFill>
                <a:latin typeface="Montserrat"/>
                <a:ea typeface="Montserrat"/>
                <a:cs typeface="Montserrat"/>
                <a:sym typeface="Montserrat"/>
              </a:rPr>
              <a:t>bility to slow or halt fission</a:t>
            </a:r>
          </a:p>
          <a:p>
            <a:pPr algn="l" marL="604519" indent="-302260" lvl="1">
              <a:lnSpc>
                <a:spcPts val="3919"/>
              </a:lnSpc>
              <a:buFont typeface="Arial"/>
              <a:buChar char="•"/>
            </a:pPr>
            <a:r>
              <a:rPr lang="en-US" sz="2799">
                <a:solidFill>
                  <a:srgbClr val="FFFFFF"/>
                </a:solidFill>
                <a:latin typeface="Montserrat"/>
                <a:ea typeface="Montserrat"/>
                <a:cs typeface="Montserrat"/>
                <a:sym typeface="Montserrat"/>
              </a:rPr>
              <a:t>Disaster recognition </a:t>
            </a:r>
          </a:p>
          <a:p>
            <a:pPr algn="l">
              <a:lnSpc>
                <a:spcPts val="3919"/>
              </a:lnSpc>
            </a:pPr>
          </a:p>
        </p:txBody>
      </p:sp>
      <p:sp>
        <p:nvSpPr>
          <p:cNvPr name="TextBox 10" id="10"/>
          <p:cNvSpPr txBox="true"/>
          <p:nvPr/>
        </p:nvSpPr>
        <p:spPr>
          <a:xfrm rot="0">
            <a:off x="1028700" y="2347913"/>
            <a:ext cx="16230600" cy="770854"/>
          </a:xfrm>
          <a:prstGeom prst="rect">
            <a:avLst/>
          </a:prstGeom>
        </p:spPr>
        <p:txBody>
          <a:bodyPr anchor="t" rtlCol="false" tIns="0" lIns="0" bIns="0" rIns="0">
            <a:spAutoFit/>
          </a:bodyPr>
          <a:lstStyle/>
          <a:p>
            <a:pPr algn="l">
              <a:lnSpc>
                <a:spcPts val="6336"/>
              </a:lnSpc>
              <a:spcBef>
                <a:spcPct val="0"/>
              </a:spcBef>
            </a:pPr>
            <a:r>
              <a:rPr lang="en-US" sz="4526">
                <a:solidFill>
                  <a:srgbClr val="F5D77D"/>
                </a:solidFill>
                <a:latin typeface="Canva Sans"/>
                <a:ea typeface="Canva Sans"/>
                <a:cs typeface="Canva Sans"/>
                <a:sym typeface="Canva Sans"/>
              </a:rPr>
              <a:t>Managing concentration:</a:t>
            </a:r>
          </a:p>
        </p:txBody>
      </p:sp>
      <p:sp>
        <p:nvSpPr>
          <p:cNvPr name="TextBox 11" id="11"/>
          <p:cNvSpPr txBox="true"/>
          <p:nvPr/>
        </p:nvSpPr>
        <p:spPr>
          <a:xfrm rot="0">
            <a:off x="1028700" y="5046830"/>
            <a:ext cx="16230600" cy="1462405"/>
          </a:xfrm>
          <a:prstGeom prst="rect">
            <a:avLst/>
          </a:prstGeom>
        </p:spPr>
        <p:txBody>
          <a:bodyPr anchor="t" rtlCol="false" tIns="0" lIns="0" bIns="0" rIns="0">
            <a:spAutoFit/>
          </a:bodyPr>
          <a:lstStyle/>
          <a:p>
            <a:pPr algn="l" marL="604519" indent="-302260" lvl="1">
              <a:lnSpc>
                <a:spcPts val="3919"/>
              </a:lnSpc>
              <a:buFont typeface="Arial"/>
              <a:buChar char="•"/>
            </a:pPr>
            <a:r>
              <a:rPr lang="en-US" sz="2799">
                <a:solidFill>
                  <a:srgbClr val="FFFFFF"/>
                </a:solidFill>
                <a:latin typeface="Montserrat"/>
                <a:ea typeface="Montserrat"/>
                <a:cs typeface="Montserrat"/>
                <a:sym typeface="Montserrat"/>
              </a:rPr>
              <a:t>Minimizing nuclear disasters</a:t>
            </a:r>
          </a:p>
          <a:p>
            <a:pPr algn="l" marL="604519" indent="-302260" lvl="1">
              <a:lnSpc>
                <a:spcPts val="3919"/>
              </a:lnSpc>
              <a:buFont typeface="Arial"/>
              <a:buChar char="•"/>
            </a:pPr>
            <a:r>
              <a:rPr lang="en-US" sz="2799">
                <a:solidFill>
                  <a:srgbClr val="FFFFFF"/>
                </a:solidFill>
                <a:latin typeface="Montserrat"/>
                <a:ea typeface="Montserrat"/>
                <a:cs typeface="Montserrat"/>
                <a:sym typeface="Montserrat"/>
              </a:rPr>
              <a:t>Control rod lowering is automated - solution would not require further worker attention</a:t>
            </a:r>
          </a:p>
          <a:p>
            <a:pPr algn="l">
              <a:lnSpc>
                <a:spcPts val="3919"/>
              </a:lnSpc>
            </a:pPr>
          </a:p>
        </p:txBody>
      </p:sp>
      <p:sp>
        <p:nvSpPr>
          <p:cNvPr name="TextBox 12" id="12"/>
          <p:cNvSpPr txBox="true"/>
          <p:nvPr/>
        </p:nvSpPr>
        <p:spPr>
          <a:xfrm rot="0">
            <a:off x="1028700" y="4169776"/>
            <a:ext cx="16230600" cy="770854"/>
          </a:xfrm>
          <a:prstGeom prst="rect">
            <a:avLst/>
          </a:prstGeom>
        </p:spPr>
        <p:txBody>
          <a:bodyPr anchor="t" rtlCol="false" tIns="0" lIns="0" bIns="0" rIns="0">
            <a:spAutoFit/>
          </a:bodyPr>
          <a:lstStyle/>
          <a:p>
            <a:pPr algn="l">
              <a:lnSpc>
                <a:spcPts val="6336"/>
              </a:lnSpc>
              <a:spcBef>
                <a:spcPct val="0"/>
              </a:spcBef>
            </a:pPr>
            <a:r>
              <a:rPr lang="en-US" sz="4526">
                <a:solidFill>
                  <a:srgbClr val="F5D77D"/>
                </a:solidFill>
                <a:latin typeface="Canva Sans"/>
                <a:ea typeface="Canva Sans"/>
                <a:cs typeface="Canva Sans"/>
                <a:sym typeface="Canva Sans"/>
              </a:rPr>
              <a:t>Stakeholder impact:</a:t>
            </a:r>
          </a:p>
        </p:txBody>
      </p:sp>
      <p:sp>
        <p:nvSpPr>
          <p:cNvPr name="TextBox 13" id="13"/>
          <p:cNvSpPr txBox="true"/>
          <p:nvPr/>
        </p:nvSpPr>
        <p:spPr>
          <a:xfrm rot="0">
            <a:off x="1028700" y="6957922"/>
            <a:ext cx="16230600" cy="1957705"/>
          </a:xfrm>
          <a:prstGeom prst="rect">
            <a:avLst/>
          </a:prstGeom>
        </p:spPr>
        <p:txBody>
          <a:bodyPr anchor="t" rtlCol="false" tIns="0" lIns="0" bIns="0" rIns="0">
            <a:spAutoFit/>
          </a:bodyPr>
          <a:lstStyle/>
          <a:p>
            <a:pPr algn="l" marL="604519" indent="-302260" lvl="1">
              <a:lnSpc>
                <a:spcPts val="3919"/>
              </a:lnSpc>
              <a:buFont typeface="Arial"/>
              <a:buChar char="•"/>
            </a:pPr>
            <a:r>
              <a:rPr lang="en-US" sz="2799">
                <a:solidFill>
                  <a:srgbClr val="FFFFFF"/>
                </a:solidFill>
                <a:latin typeface="Montserrat"/>
                <a:ea typeface="Montserrat"/>
                <a:cs typeface="Montserrat"/>
                <a:sym typeface="Montserrat"/>
              </a:rPr>
              <a:t>Nuclear safety control act 2.1.10: neutron detector requirement </a:t>
            </a:r>
          </a:p>
          <a:p>
            <a:pPr algn="l" marL="604519" indent="-302260" lvl="1">
              <a:lnSpc>
                <a:spcPts val="3919"/>
              </a:lnSpc>
              <a:buFont typeface="Arial"/>
              <a:buChar char="•"/>
            </a:pPr>
            <a:r>
              <a:rPr lang="en-US" sz="2799">
                <a:solidFill>
                  <a:srgbClr val="FFFFFF"/>
                </a:solidFill>
                <a:latin typeface="Montserrat"/>
                <a:ea typeface="Montserrat"/>
                <a:cs typeface="Montserrat"/>
                <a:sym typeface="Montserrat"/>
              </a:rPr>
              <a:t>Nuclear safety control act 2.2.5: neutron measurement system </a:t>
            </a:r>
          </a:p>
          <a:p>
            <a:pPr algn="l">
              <a:lnSpc>
                <a:spcPts val="3919"/>
              </a:lnSpc>
            </a:pPr>
            <a:r>
              <a:rPr lang="en-US" sz="2799">
                <a:solidFill>
                  <a:srgbClr val="FFFFFF"/>
                </a:solidFill>
                <a:latin typeface="Montserrat"/>
                <a:ea typeface="Montserrat"/>
                <a:cs typeface="Montserrat"/>
                <a:sym typeface="Montserrat"/>
              </a:rPr>
              <a:t>(Government of Canada, Public Works and Government Services Canada, Public Services and Procurement Canada, Integrated Services Branch, Canada Gazette, 2025)</a:t>
            </a:r>
          </a:p>
        </p:txBody>
      </p:sp>
      <p:sp>
        <p:nvSpPr>
          <p:cNvPr name="TextBox 14" id="14"/>
          <p:cNvSpPr txBox="true"/>
          <p:nvPr/>
        </p:nvSpPr>
        <p:spPr>
          <a:xfrm rot="0">
            <a:off x="1028700" y="6080868"/>
            <a:ext cx="16230600" cy="770854"/>
          </a:xfrm>
          <a:prstGeom prst="rect">
            <a:avLst/>
          </a:prstGeom>
        </p:spPr>
        <p:txBody>
          <a:bodyPr anchor="t" rtlCol="false" tIns="0" lIns="0" bIns="0" rIns="0">
            <a:spAutoFit/>
          </a:bodyPr>
          <a:lstStyle/>
          <a:p>
            <a:pPr algn="l">
              <a:lnSpc>
                <a:spcPts val="6336"/>
              </a:lnSpc>
              <a:spcBef>
                <a:spcPct val="0"/>
              </a:spcBef>
            </a:pPr>
            <a:r>
              <a:rPr lang="en-US" sz="4526">
                <a:solidFill>
                  <a:srgbClr val="F5D77D"/>
                </a:solidFill>
                <a:latin typeface="Canva Sans"/>
                <a:ea typeface="Canva Sans"/>
                <a:cs typeface="Canva Sans"/>
                <a:sym typeface="Canva Sans"/>
              </a:rPr>
              <a:t>Regulation alignment:</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143000"/>
            <a:ext cx="8198058" cy="825881"/>
          </a:xfrm>
          <a:prstGeom prst="rect">
            <a:avLst/>
          </a:prstGeom>
        </p:spPr>
        <p:txBody>
          <a:bodyPr anchor="t" rtlCol="false" tIns="0" lIns="0" bIns="0" rIns="0">
            <a:spAutoFit/>
          </a:bodyPr>
          <a:lstStyle/>
          <a:p>
            <a:pPr algn="l">
              <a:lnSpc>
                <a:spcPts val="6262"/>
              </a:lnSpc>
            </a:pPr>
            <a:r>
              <a:rPr lang="en-US" sz="6200">
                <a:solidFill>
                  <a:srgbClr val="14615B"/>
                </a:solidFill>
                <a:latin typeface="Aileron"/>
                <a:ea typeface="Aileron"/>
                <a:cs typeface="Aileron"/>
                <a:sym typeface="Aileron"/>
              </a:rPr>
              <a:t>Citations</a:t>
            </a:r>
          </a:p>
        </p:txBody>
      </p:sp>
      <p:sp>
        <p:nvSpPr>
          <p:cNvPr name="TextBox 3" id="3"/>
          <p:cNvSpPr txBox="true"/>
          <p:nvPr/>
        </p:nvSpPr>
        <p:spPr>
          <a:xfrm rot="0">
            <a:off x="1028700" y="2152583"/>
            <a:ext cx="16230600" cy="6910705"/>
          </a:xfrm>
          <a:prstGeom prst="rect">
            <a:avLst/>
          </a:prstGeom>
        </p:spPr>
        <p:txBody>
          <a:bodyPr anchor="t" rtlCol="false" tIns="0" lIns="0" bIns="0" rIns="0">
            <a:spAutoFit/>
          </a:bodyPr>
          <a:lstStyle/>
          <a:p>
            <a:pPr algn="l">
              <a:lnSpc>
                <a:spcPts val="3919"/>
              </a:lnSpc>
            </a:pPr>
            <a:r>
              <a:rPr lang="en-US" sz="2799">
                <a:solidFill>
                  <a:srgbClr val="14615B"/>
                </a:solidFill>
                <a:latin typeface="Montserrat"/>
                <a:ea typeface="Montserrat"/>
                <a:cs typeface="Montserrat"/>
                <a:sym typeface="Montserrat"/>
              </a:rPr>
              <a:t>Government of Canada, Public Works and Government Services Canada, Public Services </a:t>
            </a:r>
          </a:p>
          <a:p>
            <a:pPr algn="l">
              <a:lnSpc>
                <a:spcPts val="3919"/>
              </a:lnSpc>
            </a:pPr>
            <a:r>
              <a:rPr lang="en-US" sz="2799">
                <a:solidFill>
                  <a:srgbClr val="14615B"/>
                </a:solidFill>
                <a:latin typeface="Montserrat"/>
                <a:ea typeface="Montserrat"/>
                <a:cs typeface="Montserrat"/>
                <a:sym typeface="Montserrat"/>
              </a:rPr>
              <a:t>and Procurement Canada, Integrated Services Branch, Canada Gazette. (2025, October 9). </a:t>
            </a:r>
          </a:p>
          <a:p>
            <a:pPr algn="l">
              <a:lnSpc>
                <a:spcPts val="3919"/>
              </a:lnSpc>
            </a:pPr>
          </a:p>
          <a:p>
            <a:pPr algn="l">
              <a:lnSpc>
                <a:spcPts val="3919"/>
              </a:lnSpc>
            </a:pPr>
            <a:r>
              <a:rPr lang="en-US" sz="2799">
                <a:solidFill>
                  <a:srgbClr val="14615B"/>
                </a:solidFill>
                <a:latin typeface="Montserrat"/>
                <a:ea typeface="Montserrat"/>
                <a:cs typeface="Montserrat"/>
                <a:sym typeface="Montserrat"/>
              </a:rPr>
              <a:t>Canada Gazette, Part 2, Volume 159, Number 21: Regulations amending certain regulations made under the Nuclear Safety and Control Act (Imports, Exports and Safeguards). https://gazette.gc.ca/rp-pr/p2/2025/2025-10-08/html/sor-dors196-eng.html</a:t>
            </a:r>
          </a:p>
          <a:p>
            <a:pPr algn="l">
              <a:lnSpc>
                <a:spcPts val="3919"/>
              </a:lnSpc>
            </a:pPr>
            <a:r>
              <a:rPr lang="en-US" sz="2799">
                <a:solidFill>
                  <a:srgbClr val="14615B"/>
                </a:solidFill>
                <a:latin typeface="Montserrat"/>
                <a:ea typeface="Montserrat"/>
                <a:cs typeface="Montserrat"/>
                <a:sym typeface="Montserrat"/>
              </a:rPr>
              <a:t>Borates in nuclear energy: Preventive and emergency nuclear safety. (n.d.). https://www.borax.com/applications/nuclear-energy</a:t>
            </a:r>
          </a:p>
          <a:p>
            <a:pPr algn="l">
              <a:lnSpc>
                <a:spcPts val="3919"/>
              </a:lnSpc>
            </a:pPr>
          </a:p>
          <a:p>
            <a:pPr algn="l">
              <a:lnSpc>
                <a:spcPts val="3919"/>
              </a:lnSpc>
            </a:pPr>
            <a:r>
              <a:rPr lang="en-US" sz="2799">
                <a:solidFill>
                  <a:srgbClr val="14615B"/>
                </a:solidFill>
                <a:latin typeface="Montserrat"/>
                <a:ea typeface="Montserrat"/>
                <a:cs typeface="Montserrat"/>
                <a:sym typeface="Montserrat"/>
              </a:rPr>
              <a:t>Zoomie, &amp; Zoomie. (2024, May 5). Control rods in nuclear reactors – it’s all about neutrons. Nevada Technical Associates, Inc. |. https://www.ntanet.net/control-rods-in-nuclear-reactors-its-all-about-neutrons/</a:t>
            </a:r>
          </a:p>
          <a:p>
            <a:pPr algn="l">
              <a:lnSpc>
                <a:spcPts val="3919"/>
              </a:lnSpc>
            </a:pPr>
          </a:p>
          <a:p>
            <a:pPr algn="l">
              <a:lnSpc>
                <a:spcPts val="3919"/>
              </a:lnSpc>
            </a:pPr>
            <a:r>
              <a:rPr lang="en-US" sz="2799">
                <a:solidFill>
                  <a:srgbClr val="14615B"/>
                </a:solidFill>
                <a:latin typeface="Montserrat"/>
                <a:ea typeface="Montserrat"/>
                <a:cs typeface="Montserrat"/>
                <a:sym typeface="Montserrat"/>
              </a:rPr>
              <a:t> </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2E8785"/>
        </a:solidFill>
      </p:bgPr>
    </p:bg>
    <p:spTree>
      <p:nvGrpSpPr>
        <p:cNvPr id="1" name=""/>
        <p:cNvGrpSpPr/>
        <p:nvPr/>
      </p:nvGrpSpPr>
      <p:grpSpPr>
        <a:xfrm>
          <a:off x="0" y="0"/>
          <a:ext cx="0" cy="0"/>
          <a:chOff x="0" y="0"/>
          <a:chExt cx="0" cy="0"/>
        </a:xfrm>
      </p:grpSpPr>
      <p:sp>
        <p:nvSpPr>
          <p:cNvPr name="TextBox 2" id="2"/>
          <p:cNvSpPr txBox="true"/>
          <p:nvPr/>
        </p:nvSpPr>
        <p:spPr>
          <a:xfrm rot="0">
            <a:off x="469912" y="1143000"/>
            <a:ext cx="5446001" cy="825881"/>
          </a:xfrm>
          <a:prstGeom prst="rect">
            <a:avLst/>
          </a:prstGeom>
        </p:spPr>
        <p:txBody>
          <a:bodyPr anchor="t" rtlCol="false" tIns="0" lIns="0" bIns="0" rIns="0">
            <a:spAutoFit/>
          </a:bodyPr>
          <a:lstStyle/>
          <a:p>
            <a:pPr algn="l">
              <a:lnSpc>
                <a:spcPts val="6262"/>
              </a:lnSpc>
            </a:pPr>
            <a:r>
              <a:rPr lang="en-US" sz="6200" b="true">
                <a:solidFill>
                  <a:srgbClr val="FFFFFF"/>
                </a:solidFill>
                <a:latin typeface="Aileron Bold"/>
                <a:ea typeface="Aileron Bold"/>
                <a:cs typeface="Aileron Bold"/>
                <a:sym typeface="Aileron Bold"/>
              </a:rPr>
              <a:t>AI Disclosure</a:t>
            </a:r>
          </a:p>
        </p:txBody>
      </p:sp>
      <p:sp>
        <p:nvSpPr>
          <p:cNvPr name="TextBox 3" id="3"/>
          <p:cNvSpPr txBox="true"/>
          <p:nvPr/>
        </p:nvSpPr>
        <p:spPr>
          <a:xfrm rot="0">
            <a:off x="469912" y="3278319"/>
            <a:ext cx="17356292" cy="3582793"/>
          </a:xfrm>
          <a:prstGeom prst="rect">
            <a:avLst/>
          </a:prstGeom>
        </p:spPr>
        <p:txBody>
          <a:bodyPr anchor="t" rtlCol="false" tIns="0" lIns="0" bIns="0" rIns="0">
            <a:spAutoFit/>
          </a:bodyPr>
          <a:lstStyle/>
          <a:p>
            <a:pPr algn="l">
              <a:lnSpc>
                <a:spcPts val="4123"/>
              </a:lnSpc>
              <a:spcBef>
                <a:spcPct val="0"/>
              </a:spcBef>
            </a:pPr>
            <a:r>
              <a:rPr lang="en-US" b="true" sz="2945">
                <a:solidFill>
                  <a:srgbClr val="FFFFFF"/>
                </a:solidFill>
                <a:latin typeface="Montserrat Bold"/>
                <a:ea typeface="Montserrat Bold"/>
                <a:cs typeface="Montserrat Bold"/>
                <a:sym typeface="Montserrat Bold"/>
              </a:rPr>
              <a:t>AID Statement:</a:t>
            </a:r>
            <a:r>
              <a:rPr lang="en-US" sz="2945">
                <a:solidFill>
                  <a:srgbClr val="FFFFFF"/>
                </a:solidFill>
                <a:latin typeface="Montserrat"/>
                <a:ea typeface="Montserrat"/>
                <a:cs typeface="Montserrat"/>
                <a:sym typeface="Montserrat"/>
              </a:rPr>
              <a:t> Artificial Intelligence </a:t>
            </a:r>
            <a:r>
              <a:rPr lang="en-US" b="true" sz="2945">
                <a:solidFill>
                  <a:srgbClr val="FFFFFF"/>
                </a:solidFill>
                <a:latin typeface="Montserrat Bold"/>
                <a:ea typeface="Montserrat Bold"/>
                <a:cs typeface="Montserrat Bold"/>
                <a:sym typeface="Montserrat Bold"/>
              </a:rPr>
              <a:t>To</a:t>
            </a:r>
            <a:r>
              <a:rPr lang="en-US" b="true" sz="2945">
                <a:solidFill>
                  <a:srgbClr val="FFFFFF"/>
                </a:solidFill>
                <a:latin typeface="Montserrat Bold"/>
                <a:ea typeface="Montserrat Bold"/>
                <a:cs typeface="Montserrat Bold"/>
                <a:sym typeface="Montserrat Bold"/>
              </a:rPr>
              <a:t>ol</a:t>
            </a:r>
            <a:r>
              <a:rPr lang="en-US" sz="2945">
                <a:solidFill>
                  <a:srgbClr val="FFFFFF"/>
                </a:solidFill>
                <a:latin typeface="Montserrat"/>
                <a:ea typeface="Montserrat"/>
                <a:cs typeface="Montserrat"/>
                <a:sym typeface="Montserrat"/>
              </a:rPr>
              <a:t>: Claude (app, pro version); </a:t>
            </a:r>
            <a:r>
              <a:rPr lang="en-US" b="true" sz="2945">
                <a:solidFill>
                  <a:srgbClr val="FFFFFF"/>
                </a:solidFill>
                <a:latin typeface="Montserrat Bold"/>
                <a:ea typeface="Montserrat Bold"/>
                <a:cs typeface="Montserrat Bold"/>
                <a:sym typeface="Montserrat Bold"/>
              </a:rPr>
              <a:t>Conceptualization:</a:t>
            </a:r>
            <a:r>
              <a:rPr lang="en-US" sz="2945">
                <a:solidFill>
                  <a:srgbClr val="FFFFFF"/>
                </a:solidFill>
                <a:latin typeface="Montserrat"/>
                <a:ea typeface="Montserrat"/>
                <a:cs typeface="Montserrat"/>
                <a:sym typeface="Montserrat"/>
              </a:rPr>
              <a:t> Used to simplify some technical concepts mentioned in GitHub and explain in the simple way the functionality of the control rods in SMR; </a:t>
            </a:r>
            <a:r>
              <a:rPr lang="en-US" b="true" sz="2945">
                <a:solidFill>
                  <a:srgbClr val="FFFFFF"/>
                </a:solidFill>
                <a:latin typeface="Montserrat Bold"/>
                <a:ea typeface="Montserrat Bold"/>
                <a:cs typeface="Montserrat Bold"/>
                <a:sym typeface="Montserrat Bold"/>
              </a:rPr>
              <a:t>Execution:</a:t>
            </a:r>
            <a:r>
              <a:rPr lang="en-US" sz="2945">
                <a:solidFill>
                  <a:srgbClr val="FFFFFF"/>
                </a:solidFill>
                <a:latin typeface="Montserrat"/>
                <a:ea typeface="Montserrat"/>
                <a:cs typeface="Montserrat"/>
                <a:sym typeface="Montserrat"/>
              </a:rPr>
              <a:t> Modified and debugged the code used to run the Arduino to simulate the physical system of the dye concentration regulator; </a:t>
            </a:r>
            <a:r>
              <a:rPr lang="en-US" b="true" sz="2945">
                <a:solidFill>
                  <a:srgbClr val="FFFFFF"/>
                </a:solidFill>
                <a:latin typeface="Montserrat Bold"/>
                <a:ea typeface="Montserrat Bold"/>
                <a:cs typeface="Montserrat Bold"/>
                <a:sym typeface="Montserrat Bold"/>
              </a:rPr>
              <a:t>Visualization: </a:t>
            </a:r>
            <a:r>
              <a:rPr lang="en-US" sz="2945">
                <a:solidFill>
                  <a:srgbClr val="FFFFFF"/>
                </a:solidFill>
                <a:latin typeface="Montserrat"/>
                <a:ea typeface="Montserrat"/>
                <a:cs typeface="Montserrat"/>
                <a:sym typeface="Montserrat"/>
              </a:rPr>
              <a:t>Generated an app/dashboard Pump Control that gives commands to Arduino and is used to regulate the running pump tests, while adapting to the base dye concentration control. Generated the graph of concentration levels.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4615B"/>
        </a:solidFill>
      </p:bgPr>
    </p:bg>
    <p:spTree>
      <p:nvGrpSpPr>
        <p:cNvPr id="1" name=""/>
        <p:cNvGrpSpPr/>
        <p:nvPr/>
      </p:nvGrpSpPr>
      <p:grpSpPr>
        <a:xfrm>
          <a:off x="0" y="0"/>
          <a:ext cx="0" cy="0"/>
          <a:chOff x="0" y="0"/>
          <a:chExt cx="0" cy="0"/>
        </a:xfrm>
      </p:grpSpPr>
      <p:grpSp>
        <p:nvGrpSpPr>
          <p:cNvPr name="Group 2" id="2"/>
          <p:cNvGrpSpPr/>
          <p:nvPr/>
        </p:nvGrpSpPr>
        <p:grpSpPr>
          <a:xfrm rot="0">
            <a:off x="11778722" y="7784673"/>
            <a:ext cx="2878719" cy="1439359"/>
            <a:chOff x="0" y="0"/>
            <a:chExt cx="660400" cy="330200"/>
          </a:xfrm>
        </p:grpSpPr>
        <p:sp>
          <p:nvSpPr>
            <p:cNvPr name="Freeform 3" id="3"/>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FFFFFF"/>
            </a:solidFill>
          </p:spPr>
        </p:sp>
        <p:sp>
          <p:nvSpPr>
            <p:cNvPr name="TextBox 4" id="4"/>
            <p:cNvSpPr txBox="true"/>
            <p:nvPr/>
          </p:nvSpPr>
          <p:spPr>
            <a:xfrm>
              <a:off x="127000" y="6350"/>
              <a:ext cx="406400" cy="1841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800000">
            <a:off x="11778722" y="6345313"/>
            <a:ext cx="2878719" cy="1439359"/>
            <a:chOff x="0" y="0"/>
            <a:chExt cx="660400" cy="330200"/>
          </a:xfrm>
        </p:grpSpPr>
        <p:sp>
          <p:nvSpPr>
            <p:cNvPr name="Freeform 6" id="6"/>
            <p:cNvSpPr/>
            <p:nvPr/>
          </p:nvSpPr>
          <p:spPr>
            <a:xfrm flipH="false" flipV="false" rot="0">
              <a:off x="0" y="0"/>
              <a:ext cx="660400" cy="330200"/>
            </a:xfrm>
            <a:custGeom>
              <a:avLst/>
              <a:gdLst/>
              <a:ahLst/>
              <a:cxnLst/>
              <a:rect r="r" b="b" t="t" l="l"/>
              <a:pathLst>
                <a:path h="330200" w="660400">
                  <a:moveTo>
                    <a:pt x="660400" y="330200"/>
                  </a:moveTo>
                  <a:cubicBezTo>
                    <a:pt x="660400" y="150345"/>
                    <a:pt x="510055" y="0"/>
                    <a:pt x="330200" y="0"/>
                  </a:cubicBezTo>
                  <a:cubicBezTo>
                    <a:pt x="150345" y="0"/>
                    <a:pt x="0" y="150345"/>
                    <a:pt x="0" y="330200"/>
                  </a:cubicBezTo>
                  <a:lnTo>
                    <a:pt x="183347" y="330200"/>
                  </a:lnTo>
                  <a:cubicBezTo>
                    <a:pt x="183347" y="250212"/>
                    <a:pt x="250212" y="183347"/>
                    <a:pt x="330200" y="183347"/>
                  </a:cubicBezTo>
                  <a:cubicBezTo>
                    <a:pt x="410188" y="183347"/>
                    <a:pt x="477053" y="250212"/>
                    <a:pt x="477053" y="330200"/>
                  </a:cubicBezTo>
                  <a:lnTo>
                    <a:pt x="660400" y="330200"/>
                  </a:lnTo>
                  <a:close/>
                </a:path>
              </a:pathLst>
            </a:custGeom>
            <a:solidFill>
              <a:srgbClr val="2E8785"/>
            </a:solidFill>
          </p:spPr>
        </p:sp>
        <p:sp>
          <p:nvSpPr>
            <p:cNvPr name="TextBox 7" id="7"/>
            <p:cNvSpPr txBox="true"/>
            <p:nvPr/>
          </p:nvSpPr>
          <p:spPr>
            <a:xfrm>
              <a:off x="127000" y="6350"/>
              <a:ext cx="406400" cy="18415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5017604" y="6345313"/>
            <a:ext cx="2241696" cy="2878719"/>
            <a:chOff x="0" y="0"/>
            <a:chExt cx="464814" cy="596900"/>
          </a:xfrm>
        </p:grpSpPr>
        <p:sp>
          <p:nvSpPr>
            <p:cNvPr name="Freeform 9" id="9"/>
            <p:cNvSpPr/>
            <p:nvPr/>
          </p:nvSpPr>
          <p:spPr>
            <a:xfrm flipH="false" flipV="false" rot="0">
              <a:off x="0" y="0"/>
              <a:ext cx="464814" cy="596900"/>
            </a:xfrm>
            <a:custGeom>
              <a:avLst/>
              <a:gdLst/>
              <a:ahLst/>
              <a:cxnLst/>
              <a:rect r="r" b="b" t="t" l="l"/>
              <a:pathLst>
                <a:path h="596900" w="464814">
                  <a:moveTo>
                    <a:pt x="464814" y="596900"/>
                  </a:moveTo>
                  <a:lnTo>
                    <a:pt x="0" y="596900"/>
                  </a:lnTo>
                  <a:lnTo>
                    <a:pt x="0" y="0"/>
                  </a:lnTo>
                  <a:lnTo>
                    <a:pt x="464814" y="596900"/>
                  </a:lnTo>
                  <a:close/>
                </a:path>
              </a:pathLst>
            </a:custGeom>
            <a:solidFill>
              <a:srgbClr val="F5D77D"/>
            </a:solidFill>
          </p:spPr>
        </p:sp>
        <p:sp>
          <p:nvSpPr>
            <p:cNvPr name="TextBox 10" id="10"/>
            <p:cNvSpPr txBox="true"/>
            <p:nvPr/>
          </p:nvSpPr>
          <p:spPr>
            <a:xfrm>
              <a:off x="0" y="260350"/>
              <a:ext cx="232407" cy="33528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28700" y="1028700"/>
            <a:ext cx="16325850" cy="4575284"/>
            <a:chOff x="0" y="0"/>
            <a:chExt cx="2529301" cy="708831"/>
          </a:xfrm>
        </p:grpSpPr>
        <p:sp>
          <p:nvSpPr>
            <p:cNvPr name="Freeform 12" id="12"/>
            <p:cNvSpPr/>
            <p:nvPr/>
          </p:nvSpPr>
          <p:spPr>
            <a:xfrm flipH="false" flipV="false" rot="0">
              <a:off x="0" y="0"/>
              <a:ext cx="2529301" cy="708831"/>
            </a:xfrm>
            <a:custGeom>
              <a:avLst/>
              <a:gdLst/>
              <a:ahLst/>
              <a:cxnLst/>
              <a:rect r="r" b="b" t="t" l="l"/>
              <a:pathLst>
                <a:path h="708831" w="2529301">
                  <a:moveTo>
                    <a:pt x="10907" y="0"/>
                  </a:moveTo>
                  <a:lnTo>
                    <a:pt x="2518395" y="0"/>
                  </a:lnTo>
                  <a:cubicBezTo>
                    <a:pt x="2524418" y="0"/>
                    <a:pt x="2529301" y="4883"/>
                    <a:pt x="2529301" y="10907"/>
                  </a:cubicBezTo>
                  <a:lnTo>
                    <a:pt x="2529301" y="697924"/>
                  </a:lnTo>
                  <a:cubicBezTo>
                    <a:pt x="2529301" y="700817"/>
                    <a:pt x="2528152" y="703591"/>
                    <a:pt x="2526107" y="705637"/>
                  </a:cubicBezTo>
                  <a:cubicBezTo>
                    <a:pt x="2524061" y="707682"/>
                    <a:pt x="2521287" y="708831"/>
                    <a:pt x="2518395" y="708831"/>
                  </a:cubicBezTo>
                  <a:lnTo>
                    <a:pt x="10907" y="708831"/>
                  </a:lnTo>
                  <a:cubicBezTo>
                    <a:pt x="8014" y="708831"/>
                    <a:pt x="5240" y="707682"/>
                    <a:pt x="3195" y="705637"/>
                  </a:cubicBezTo>
                  <a:cubicBezTo>
                    <a:pt x="1149" y="703591"/>
                    <a:pt x="0" y="700817"/>
                    <a:pt x="0" y="697924"/>
                  </a:cubicBezTo>
                  <a:lnTo>
                    <a:pt x="0" y="10907"/>
                  </a:lnTo>
                  <a:cubicBezTo>
                    <a:pt x="0" y="8014"/>
                    <a:pt x="1149" y="5240"/>
                    <a:pt x="3195" y="3195"/>
                  </a:cubicBezTo>
                  <a:cubicBezTo>
                    <a:pt x="5240" y="1149"/>
                    <a:pt x="8014" y="0"/>
                    <a:pt x="10907" y="0"/>
                  </a:cubicBezTo>
                  <a:close/>
                </a:path>
              </a:pathLst>
            </a:custGeom>
            <a:blipFill>
              <a:blip r:embed="rId2"/>
              <a:stretch>
                <a:fillRect l="0" t="-217519" r="0" b="-158249"/>
              </a:stretch>
            </a:blipFill>
          </p:spPr>
        </p:sp>
      </p:grpSp>
      <p:sp>
        <p:nvSpPr>
          <p:cNvPr name="TextBox 13" id="13"/>
          <p:cNvSpPr txBox="true"/>
          <p:nvPr/>
        </p:nvSpPr>
        <p:spPr>
          <a:xfrm rot="0">
            <a:off x="1028700" y="6792988"/>
            <a:ext cx="10388072" cy="2042092"/>
          </a:xfrm>
          <a:prstGeom prst="rect">
            <a:avLst/>
          </a:prstGeom>
        </p:spPr>
        <p:txBody>
          <a:bodyPr anchor="t" rtlCol="false" tIns="0" lIns="0" bIns="0" rIns="0">
            <a:spAutoFit/>
          </a:bodyPr>
          <a:lstStyle/>
          <a:p>
            <a:pPr algn="l">
              <a:lnSpc>
                <a:spcPts val="14919"/>
              </a:lnSpc>
            </a:pPr>
            <a:r>
              <a:rPr lang="en-US" sz="16394" b="true">
                <a:solidFill>
                  <a:srgbClr val="FFFFFF"/>
                </a:solidFill>
                <a:latin typeface="Aileron Bold"/>
                <a:ea typeface="Aileron Bold"/>
                <a:cs typeface="Aileron Bold"/>
                <a:sym typeface="Aileron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DAHW-AVAGgg</dc:identifier>
  <dcterms:modified xsi:type="dcterms:W3CDTF">2011-08-01T06:04:30Z</dcterms:modified>
  <cp:revision>1</cp:revision>
  <dc:title>Nuclear Innovation Challenge</dc:title>
</cp:coreProperties>
</file>